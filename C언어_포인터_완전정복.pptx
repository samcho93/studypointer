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algun Gothic"/>
              </a:defRPr>
            </a:pPr>
            <a:r>
              <a:t>C언어 포인터 완전정복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0A5FA"/>
                </a:solidFill>
                <a:latin typeface="Malgun Gothic"/>
              </a:defRPr>
            </a:pPr>
            <a:r>
              <a:t>64비트 시스템 기반 메모리 시각화 학습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4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▸ 20개 강의 | 단계별 포인터 학습 커리큘럼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26280"/>
            <a:ext cx="8534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▸ 코드 예제 + 메모리 맵으로 완벽 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937760"/>
            <a:ext cx="8534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▸ 기초부터 함수 포인터까지 완전 정복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StudyPointer | C Language Pointer Mastery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☰ 학습 목차 - 전체 20강 커리큘럼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78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메모리의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08176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898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변수와 메모리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19072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07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포인터의 개념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29967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포인터 선언과 초기화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40864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225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역참조 연산자(*)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334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포인터와 자료형의 관계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62656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9443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포인터 연산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73552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2552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배열과 메모리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84448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566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배열과 포인터의 관계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95344"/>
            <a:ext cx="411480" cy="25603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8770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문자열과 포인터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97280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078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Call by Value vs Call by Reference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08176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3898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포인터 매개변수 활용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719072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7007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함수의 포인터 리턴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029967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0116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const와 포인터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340864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3225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동적 메모리 할당 기초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651760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6334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동적 메모리와 포인터 활용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2962656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29443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이중 포인터 (더블 포인터)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273552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2552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포인터 배열과 배열 포인터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584448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3566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함수 포인터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895344"/>
            <a:ext cx="411480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8770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포인터 함수 vs 함수 포인터 비교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Malgun Gothic"/>
              </a:defRPr>
            </a:pPr>
            <a:r>
              <a:t>▲ 기초 과정 (Lecture 01-10)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803D"/>
                </a:solidFill>
                <a:latin typeface="Malgun Gothic"/>
              </a:defRPr>
            </a:pPr>
            <a:r>
              <a:t>▲ 심화 과정 (Lecture 11-20)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40AF"/>
                </a:solidFill>
                <a:latin typeface="Malgun Gothic"/>
              </a:defRPr>
            </a:pPr>
            <a:r>
              <a:t>각 강의는 개념 설명 + 코드 예제 + 메모리 맵 + 핵심 정리로 구성되어 있습니다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메모리의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01 | 메모리의 구조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메모리 4개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코드(Code) 영역: 실행할 프로그램 코드 저장 (읽기 전용)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데이터(Data) 영역: 전역 변수, static 변수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힙(Heap) 영역: 동적 할당 메모리 (↑ 위로 성장)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96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스택(Stack) 영역: 지역 변수, 매개변수 (↓ 아래로 성장)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8152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64비트 주소 체계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모든 포인터 크기: 8바이트 (64비트)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주소 범위: 0x0000000000000000 ~ 0xFFFFFFFFFFFFFFFF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33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사용자 공간과 커널 공간으로 분리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01 | 메모리의 구조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#include &lt;</a:t>
            </a:r>
            <a:r>
              <a:rPr sz="2000" dirty="0" err="1"/>
              <a:t>stdio.h</a:t>
            </a:r>
            <a:r>
              <a:rPr sz="20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2000" dirty="0" err="1"/>
              <a:t>int</a:t>
            </a:r>
            <a:r>
              <a:rPr sz="2000" dirty="0"/>
              <a:t> </a:t>
            </a:r>
            <a:r>
              <a:rPr sz="2000" dirty="0" err="1"/>
              <a:t>global_var</a:t>
            </a:r>
            <a:r>
              <a:rPr sz="2000" dirty="0"/>
              <a:t> = 100;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void </a:t>
            </a:r>
            <a:r>
              <a:rPr sz="2000" dirty="0" err="1"/>
              <a:t>my_function</a:t>
            </a:r>
            <a:r>
              <a:rPr sz="2000" dirty="0"/>
              <a:t>() { </a:t>
            </a:r>
            <a:r>
              <a:rPr sz="2000" dirty="0" err="1"/>
              <a:t>printf</a:t>
            </a:r>
            <a:r>
              <a:rPr sz="2000" dirty="0"/>
              <a:t>("Hello!\n");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2000" dirty="0" err="1"/>
              <a:t>int</a:t>
            </a:r>
            <a:r>
              <a:rPr sz="20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int</a:t>
            </a:r>
            <a:r>
              <a:rPr sz="2000" dirty="0"/>
              <a:t> </a:t>
            </a:r>
            <a:r>
              <a:rPr sz="2000" dirty="0" err="1"/>
              <a:t>local_var</a:t>
            </a:r>
            <a:r>
              <a:rPr sz="2000" dirty="0"/>
              <a:t> = 200;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int</a:t>
            </a:r>
            <a:r>
              <a:rPr sz="2000" dirty="0"/>
              <a:t> *</a:t>
            </a:r>
            <a:r>
              <a:rPr sz="2000" dirty="0" err="1"/>
              <a:t>heap_var</a:t>
            </a:r>
            <a:r>
              <a:rPr sz="2000" dirty="0"/>
              <a:t> = (</a:t>
            </a:r>
            <a:r>
              <a:rPr sz="2000" dirty="0" err="1"/>
              <a:t>int</a:t>
            </a:r>
            <a:r>
              <a:rPr sz="2000" dirty="0"/>
              <a:t>*)</a:t>
            </a:r>
            <a:r>
              <a:rPr sz="2000" dirty="0" err="1"/>
              <a:t>malloc</a:t>
            </a:r>
            <a:r>
              <a:rPr sz="2000" dirty="0"/>
              <a:t>(</a:t>
            </a:r>
            <a:r>
              <a:rPr sz="2000" dirty="0" err="1"/>
              <a:t>sizeof</a:t>
            </a:r>
            <a:r>
              <a:rPr sz="2000" dirty="0"/>
              <a:t>(</a:t>
            </a:r>
            <a:r>
              <a:rPr sz="2000" dirty="0" err="1"/>
              <a:t>int</a:t>
            </a:r>
            <a:r>
              <a:rPr sz="2000" dirty="0"/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*</a:t>
            </a:r>
            <a:r>
              <a:rPr sz="2000" dirty="0" err="1"/>
              <a:t>heap_var</a:t>
            </a:r>
            <a:r>
              <a:rPr sz="2000" dirty="0"/>
              <a:t> = 300;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코드</a:t>
            </a:r>
            <a:r>
              <a:rPr sz="2000" dirty="0"/>
              <a:t> </a:t>
            </a:r>
            <a:r>
              <a:rPr sz="2000" dirty="0" err="1"/>
              <a:t>영역</a:t>
            </a:r>
            <a:r>
              <a:rPr sz="2000" dirty="0"/>
              <a:t>(</a:t>
            </a:r>
            <a:r>
              <a:rPr sz="2000" dirty="0" err="1"/>
              <a:t>함수</a:t>
            </a:r>
            <a:r>
              <a:rPr sz="2000" dirty="0"/>
              <a:t>):  %p\n", (void*)</a:t>
            </a:r>
            <a:r>
              <a:rPr sz="2000" dirty="0" err="1"/>
              <a:t>my_function</a:t>
            </a:r>
            <a:r>
              <a:rPr sz="20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데이터</a:t>
            </a:r>
            <a:r>
              <a:rPr sz="2000" dirty="0"/>
              <a:t> </a:t>
            </a:r>
            <a:r>
              <a:rPr sz="2000" dirty="0" err="1"/>
              <a:t>영역</a:t>
            </a:r>
            <a:r>
              <a:rPr sz="2000" dirty="0"/>
              <a:t>(</a:t>
            </a:r>
            <a:r>
              <a:rPr sz="2000" dirty="0" err="1"/>
              <a:t>전역</a:t>
            </a:r>
            <a:r>
              <a:rPr sz="2000" dirty="0"/>
              <a:t>): %p\n", (void*)&amp;</a:t>
            </a:r>
            <a:r>
              <a:rPr sz="2000" dirty="0" err="1"/>
              <a:t>global_var</a:t>
            </a:r>
            <a:r>
              <a:rPr sz="20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("힙 </a:t>
            </a:r>
            <a:r>
              <a:rPr sz="2000" dirty="0" err="1"/>
              <a:t>영역</a:t>
            </a:r>
            <a:r>
              <a:rPr sz="2000" dirty="0"/>
              <a:t>(</a:t>
            </a:r>
            <a:r>
              <a:rPr sz="2000" dirty="0" err="1"/>
              <a:t>동적</a:t>
            </a:r>
            <a:r>
              <a:rPr sz="2000" dirty="0"/>
              <a:t>):    %p\n", (void*)</a:t>
            </a:r>
            <a:r>
              <a:rPr sz="2000" dirty="0" err="1"/>
              <a:t>heap_var</a:t>
            </a:r>
            <a:r>
              <a:rPr sz="20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스택</a:t>
            </a:r>
            <a:r>
              <a:rPr sz="2000" dirty="0"/>
              <a:t> </a:t>
            </a:r>
            <a:r>
              <a:rPr sz="2000" dirty="0" err="1"/>
              <a:t>영역</a:t>
            </a:r>
            <a:r>
              <a:rPr sz="2000" dirty="0"/>
              <a:t>(</a:t>
            </a:r>
            <a:r>
              <a:rPr sz="2000" dirty="0" err="1"/>
              <a:t>지역</a:t>
            </a:r>
            <a:r>
              <a:rPr sz="2000" dirty="0"/>
              <a:t>):  %p\n", (void*)&amp;</a:t>
            </a:r>
            <a:r>
              <a:rPr sz="2000" dirty="0" err="1"/>
              <a:t>local_var</a:t>
            </a:r>
            <a:r>
              <a:rPr sz="20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free(</a:t>
            </a:r>
            <a:r>
              <a:rPr sz="2000" dirty="0" err="1"/>
              <a:t>heap_var</a:t>
            </a:r>
            <a:r>
              <a:rPr sz="20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01 | 메모리의 구조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0x00401130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my_function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(함수코드)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0x00604020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global_var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*heap_var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local_var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(스택)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heap_var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(스택)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heap_var(0x7FFE0030) → *heap_var(0x00B71A40) : 스택의 포인터가 힙 메모리를 가리킴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6634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46634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6634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6634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6634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01 | 메모리의 구조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코드 영역은 읽기 전용으로 프로그램 실행 코드 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데이터 영역은 전역 변수와 static 변수 저장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힙 영역은 동적 할당 메모리 (위로 성장 ↑)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스택 영역은 지역 변수 저장 (아래로 성장 ↓)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379476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397764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64비트 시스템에서 포인터 크기는 항상 8바이트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01 핵심 포인트를 반드시 기억하세요!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변수와 메모리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02 | 변수와 메모리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자료형별 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char: 1바이트 (문자 1개)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short: 2바이트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int: 4바이트 (정수)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96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long long: 8바이트 (큰 정수)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44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float: 4바이트 (단정밀도 실수)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double: 8바이트 (배정밀도 실수)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3931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포인터: 8바이트 (64비트 시스템)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23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메모리 할당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8114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변수 선언 → 컴파일러가 메모리 공간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286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자료형에 따라 할당 크기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76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sizeof 연산자로 크기 확인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02 | 변수와 메모리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B923C"/>
                </a:solidFill>
                <a:latin typeface="Consolas"/>
              </a:defRPr>
            </a:pPr>
            <a:r>
              <a:rPr sz="2000"/>
              <a:t>#include &lt;stdio.h&gt;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2000"/>
              <a:t>int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2000"/>
              <a:t>    char c = 'A';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2000"/>
              <a:t>    short s = 100;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2000"/>
              <a:t>    int i = 42;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2000"/>
              <a:t>    long long ll = 123456789LL;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2000"/>
              <a:t>    float f = 3.14f;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2000"/>
              <a:t>    double d = 2.71828;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printf("char:      %zu byte, addr: %p\n", sizeof(c), &amp;c);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printf("short:     %zu byte, addr: %p\n", sizeof(s), &amp;s);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printf("int:       %zu byte, addr: %p\n", sizeof(i), &amp;i);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printf("long long: %zu byte, addr: %p\n", sizeof(ll), &amp;ll);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printf("float:     %zu byte, addr: %p\n", sizeof(f), &amp;f);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printf("double:    %zu byte, addr: %p\n", sizeof(d), &amp;d);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B923C"/>
                </a:solidFill>
                <a:latin typeface="Consolas"/>
              </a:defRPr>
            </a:pPr>
            <a:r>
              <a:rPr sz="200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rPr sz="200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02 | 변수와 메모리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0x7FFE0047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'A' (0x41)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char (1B)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short (2B)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ll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123456789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long long (8B)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3.14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float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2.71828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double (8B)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스택에 연속 배치: 높은 주소(c) → 낮은 주소(d) 순서로 할당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1206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1206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1206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1206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1206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02 | 변수와 메모리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자료형은 메모리 접근 크기를 결정한다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변수 선언 = 메모리 공간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sizeof 연산자로 바이트 크기 확인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64비트 시스템에서 모든 포인터는 8바이트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02 핵심 포인트를 반드시 기억하세요!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포인터의 개념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03 | 포인터의 개념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포인터란?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 = 메모리 주소를 저장하는 변수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&amp; 연산자: 변수의 주소를 얻는 연산자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* 연산자: 주소가 가리키는 값에 접근 (역참조)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64비트 포인터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모든 포인터는 8바이트 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자료형에 상관없이 주소 저장 크기는 동일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 자체도 메모리에 저장됨 (주소를 가짐)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rPr dirty="0"/>
              <a:t>Lecture 03 | </a:t>
            </a:r>
            <a:r>
              <a:rPr dirty="0" err="1"/>
              <a:t>포인터의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-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예제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rPr sz="2400" dirty="0"/>
              <a:t>#include &lt;</a:t>
            </a:r>
            <a:r>
              <a:rPr sz="2400" dirty="0" err="1"/>
              <a:t>stdio.h</a:t>
            </a:r>
            <a:r>
              <a:rPr sz="24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 err="1"/>
              <a:t>int</a:t>
            </a:r>
            <a:r>
              <a:rPr sz="24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int</a:t>
            </a:r>
            <a:r>
              <a:rPr sz="2400" dirty="0"/>
              <a:t> </a:t>
            </a:r>
            <a:r>
              <a:rPr sz="2400" dirty="0" err="1"/>
              <a:t>num</a:t>
            </a:r>
            <a:r>
              <a:rPr sz="2400" dirty="0"/>
              <a:t> = 42;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int</a:t>
            </a:r>
            <a:r>
              <a:rPr sz="2400" dirty="0"/>
              <a:t> *</a:t>
            </a:r>
            <a:r>
              <a:rPr sz="2400" dirty="0" err="1"/>
              <a:t>ptr</a:t>
            </a:r>
            <a:r>
              <a:rPr sz="2400" dirty="0"/>
              <a:t> = &amp;</a:t>
            </a:r>
            <a:r>
              <a:rPr sz="2400" dirty="0" err="1"/>
              <a:t>num</a:t>
            </a:r>
            <a:r>
              <a:rPr sz="24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</a:t>
            </a:r>
            <a:r>
              <a:rPr sz="2400" dirty="0" err="1"/>
              <a:t>num의</a:t>
            </a:r>
            <a:r>
              <a:rPr sz="2400" dirty="0"/>
              <a:t> 값:    %d\n", </a:t>
            </a:r>
            <a:r>
              <a:rPr sz="2400" dirty="0" err="1"/>
              <a:t>num</a:t>
            </a:r>
            <a:r>
              <a:rPr sz="24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</a:t>
            </a:r>
            <a:r>
              <a:rPr sz="2400" dirty="0" err="1"/>
              <a:t>num의</a:t>
            </a:r>
            <a:r>
              <a:rPr sz="2400" dirty="0"/>
              <a:t> </a:t>
            </a:r>
            <a:r>
              <a:rPr sz="2400" dirty="0" err="1"/>
              <a:t>주소</a:t>
            </a:r>
            <a:r>
              <a:rPr sz="2400" dirty="0"/>
              <a:t>:  %p\n", (void*)&amp;</a:t>
            </a:r>
            <a:r>
              <a:rPr sz="2400" dirty="0" err="1"/>
              <a:t>num</a:t>
            </a:r>
            <a:r>
              <a:rPr sz="24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</a:t>
            </a:r>
            <a:r>
              <a:rPr sz="2400" dirty="0" err="1"/>
              <a:t>ptr의</a:t>
            </a:r>
            <a:r>
              <a:rPr sz="2400" dirty="0"/>
              <a:t> 값:    %p\n", (void*)</a:t>
            </a:r>
            <a:r>
              <a:rPr sz="2400" dirty="0" err="1"/>
              <a:t>ptr</a:t>
            </a:r>
            <a:r>
              <a:rPr sz="24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</a:t>
            </a:r>
            <a:r>
              <a:rPr sz="2400" dirty="0" err="1"/>
              <a:t>ptr의</a:t>
            </a:r>
            <a:r>
              <a:rPr sz="2400" dirty="0"/>
              <a:t> </a:t>
            </a:r>
            <a:r>
              <a:rPr sz="2400" dirty="0" err="1"/>
              <a:t>주소</a:t>
            </a:r>
            <a:r>
              <a:rPr sz="2400" dirty="0"/>
              <a:t>:  %p\n", (void*)&amp;</a:t>
            </a:r>
            <a:r>
              <a:rPr sz="2400" dirty="0" err="1"/>
              <a:t>ptr</a:t>
            </a:r>
            <a:r>
              <a:rPr sz="24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("*</a:t>
            </a:r>
            <a:r>
              <a:rPr sz="2400" dirty="0" err="1"/>
              <a:t>ptr의</a:t>
            </a:r>
            <a:r>
              <a:rPr sz="2400" dirty="0"/>
              <a:t> 값:   %d\n", *</a:t>
            </a:r>
            <a:r>
              <a:rPr sz="2400" dirty="0" err="1"/>
              <a:t>ptr</a:t>
            </a:r>
            <a:r>
              <a:rPr sz="24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</a:t>
            </a:r>
            <a:r>
              <a:rPr sz="2400" dirty="0" err="1"/>
              <a:t>포인터</a:t>
            </a:r>
            <a:r>
              <a:rPr sz="2400" dirty="0"/>
              <a:t> </a:t>
            </a:r>
            <a:r>
              <a:rPr sz="2400" dirty="0" err="1"/>
              <a:t>크기</a:t>
            </a:r>
            <a:r>
              <a:rPr sz="2400" dirty="0"/>
              <a:t>: %</a:t>
            </a:r>
            <a:r>
              <a:rPr sz="2400" dirty="0" err="1"/>
              <a:t>zu</a:t>
            </a:r>
            <a:r>
              <a:rPr sz="2400" dirty="0"/>
              <a:t>\n", </a:t>
            </a:r>
            <a:r>
              <a:rPr sz="2400" dirty="0" err="1"/>
              <a:t>sizeof</a:t>
            </a:r>
            <a:r>
              <a:rPr sz="2400" dirty="0"/>
              <a:t>(</a:t>
            </a:r>
            <a:r>
              <a:rPr sz="2400" dirty="0" err="1"/>
              <a:t>ptr</a:t>
            </a:r>
            <a:r>
              <a:rPr sz="2400" dirty="0"/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rPr sz="24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03 | 포인터의 개념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num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ptr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27432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ptr(0x7FFE0040) → num(0x7FFE0038) : ptr이 num의 주소를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32918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32918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2918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2918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2918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03 | 포인터의 개념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포인터는 메모리 주소를 저장하는 변수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&amp; 연산자로 변수의 주소를 얻음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* 연산자로 주소가 가리키는 값에 접근 (역참조)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64비트 시스템에서 포인터는 항상 8바이트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03 핵심 포인트를 반드시 기억하세요!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포인터 선언과 초기화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04 | 포인터 선언과 초기화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포인터 선언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 *pa = &amp;a;     // int형 포인터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char *pb = &amp;b;    // char형 포인터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double *pc = &amp;c;  // double형 포인터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NULL 초기화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 *pn = NULL;  // 안전한 초기화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NULL = 아무것도 가리키지 않음을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사용 전 NULL 체크로 안전성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708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포인터 크기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28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모든 포인터는 자료형에 무관하게 8바이트 (64비트)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755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int*, char*, double* 모두 같은 크기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04 | 포인터 선언과 초기화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rPr sz="2400" dirty="0"/>
              <a:t>#include &lt;</a:t>
            </a:r>
            <a:r>
              <a:rPr sz="2400" dirty="0" err="1"/>
              <a:t>stdio.h</a:t>
            </a:r>
            <a:r>
              <a:rPr sz="24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 err="1"/>
              <a:t>int</a:t>
            </a:r>
            <a:r>
              <a:rPr sz="24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int</a:t>
            </a:r>
            <a:r>
              <a:rPr sz="2400" dirty="0"/>
              <a:t> a = 10;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/>
              <a:t>    char b = 'X';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/>
              <a:t>    double c = 3.14;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int</a:t>
            </a:r>
            <a:r>
              <a:rPr sz="2400" dirty="0"/>
              <a:t> *pa = &amp;a;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/>
              <a:t>    char *</a:t>
            </a:r>
            <a:r>
              <a:rPr sz="2400" dirty="0" err="1"/>
              <a:t>pb</a:t>
            </a:r>
            <a:r>
              <a:rPr sz="2400" dirty="0"/>
              <a:t> = &amp;b;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/>
              <a:t>    double *pc = &amp;c;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int</a:t>
            </a:r>
            <a:r>
              <a:rPr sz="2400" dirty="0"/>
              <a:t> *</a:t>
            </a:r>
            <a:r>
              <a:rPr sz="2400" dirty="0" err="1"/>
              <a:t>pn</a:t>
            </a:r>
            <a:r>
              <a:rPr sz="2400" dirty="0"/>
              <a:t> = NULL;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</a:t>
            </a:r>
            <a:r>
              <a:rPr sz="2400" dirty="0" err="1"/>
              <a:t>int</a:t>
            </a:r>
            <a:r>
              <a:rPr sz="2400" dirty="0"/>
              <a:t>* pa = %p -&gt; %d\n", pa, *pa);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("char* </a:t>
            </a:r>
            <a:r>
              <a:rPr sz="2400" dirty="0" err="1"/>
              <a:t>pb</a:t>
            </a:r>
            <a:r>
              <a:rPr sz="2400" dirty="0"/>
              <a:t> = %p -&gt; %c\n", </a:t>
            </a:r>
            <a:r>
              <a:rPr sz="2400" dirty="0" err="1"/>
              <a:t>pb</a:t>
            </a:r>
            <a:r>
              <a:rPr sz="2400" dirty="0"/>
              <a:t>, *</a:t>
            </a:r>
            <a:r>
              <a:rPr sz="2400" dirty="0" err="1"/>
              <a:t>pb</a:t>
            </a:r>
            <a:r>
              <a:rPr sz="24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("double* pc = %p -&gt; %.2f\n", pc, *pc);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400" dirty="0"/>
              <a:t>    </a:t>
            </a:r>
            <a:r>
              <a:rPr sz="2400" dirty="0" err="1"/>
              <a:t>printf</a:t>
            </a:r>
            <a:r>
              <a:rPr sz="2400" dirty="0"/>
              <a:t>("NULL </a:t>
            </a:r>
            <a:r>
              <a:rPr sz="2400" dirty="0" err="1"/>
              <a:t>ptr</a:t>
            </a:r>
            <a:r>
              <a:rPr sz="2400" dirty="0"/>
              <a:t>: %p\n", </a:t>
            </a:r>
            <a:r>
              <a:rPr sz="2400" dirty="0" err="1"/>
              <a:t>pn</a:t>
            </a:r>
            <a:r>
              <a:rPr sz="24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rPr sz="24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04 | 포인터 선언과 초기화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0x7FFE0027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'X' (0x58)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char (1B)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3.14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double (8B)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pa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pb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0x7FFE0027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char*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pc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double*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0x7FFE0050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pn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NULL (0x0)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0292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pa → a, pb → b, pc → c : 각 포인터가 해당 변수를 가리킴 / pn = NULL (미가리킴)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5778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5778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5778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5778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5778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04 | 포인터 선언과 초기화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자료형과 일치하는 포인터 선언 필수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NULL 초기화로 안전성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포인터 크기는 자료형에 무관하게 8바이트 (64비트)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사용 전 NULL 체크 습관화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04 핵심 포인트를 반드시 기억하세요!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역참조 연산자(*)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05 | 역참조 연산자(*)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역참조(Dereference)란?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* 연산자로 포인터가 가리키는 값에 접근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*p 로 값 읽기 (Read)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*p = 99; 로 값 쓰기 (Write)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포인터를 통한 간접 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포인터로 값 변경 시 원본 변수도 변경됨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원본 변수 변경 시 포인터로 읽은 값도 변경됨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p = ... (주소 변경) vs *p = ... (값 변경) 구분 중요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05 | 역참조 연산자(*)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t>int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t>    int a = 10;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t>    int *p = &amp;a;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t>    printf("변경 전: a = %d, *p = %d\n", a, *p);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    *p = 99;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t>    printf("변경 후: a = %d, *p = %d\n", a, *p);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    a = 50;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t>    printf("재변경:  a = %d, *p = %d\n", a, *p);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05 | 역참조 연산자(*)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 → 99 → 50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27432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p → a : *p = 99 실행 시 a의 값이 10에서 99로 변경됨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32918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32918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2918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2918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2918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3273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05 | 역참조 연산자(*)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*p로 읽기와 쓰기 모두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포인터로 값 변경 시 원본 변수도 변경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p = (주소 변경) vs *p = (값 변경) 구분 중요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역참조는 포인터의 핵심 기능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05 핵심 포인트를 반드시 기억하세요!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포인터와 자료형의 관계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06 | 포인터와 자료형의 관계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자료형이 결정하는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 자료형 = 메모리에서 몇 바이트를 읽을지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int* → 4바이트 읽기/쓰기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char* → 1바이트 읽기/쓰기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96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double* → 8바이트 읽기/쓰기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8152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void 포인터 (void*)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범용 포인터: 어떤 주소든 저장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직접 역참조 불가 → 캐스팅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33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malloc 반환 타입이 void*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06 | 포인터와 자료형의 관계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#include &lt;</a:t>
            </a:r>
            <a:r>
              <a:rPr sz="1600" dirty="0" err="1"/>
              <a:t>stdio.h</a:t>
            </a:r>
            <a:r>
              <a:rPr sz="16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1600" dirty="0" err="1"/>
              <a:t>int</a:t>
            </a:r>
            <a:r>
              <a:rPr sz="16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num</a:t>
            </a:r>
            <a:r>
              <a:rPr sz="1600" dirty="0"/>
              <a:t> = 0x41424344;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*</a:t>
            </a:r>
            <a:r>
              <a:rPr sz="1600" dirty="0" err="1"/>
              <a:t>ip</a:t>
            </a:r>
            <a:r>
              <a:rPr sz="1600" dirty="0"/>
              <a:t> = &amp;</a:t>
            </a:r>
            <a:r>
              <a:rPr sz="1600" dirty="0" err="1"/>
              <a:t>num</a:t>
            </a:r>
            <a:r>
              <a:rPr sz="16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char *</a:t>
            </a:r>
            <a:r>
              <a:rPr sz="1600" dirty="0" err="1"/>
              <a:t>cp</a:t>
            </a:r>
            <a:r>
              <a:rPr sz="1600" dirty="0"/>
              <a:t> = (char*)&amp;</a:t>
            </a:r>
            <a:r>
              <a:rPr sz="1600" dirty="0" err="1"/>
              <a:t>num</a:t>
            </a:r>
            <a:r>
              <a:rPr sz="16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</a:t>
            </a:r>
            <a:r>
              <a:rPr sz="1600" dirty="0" err="1"/>
              <a:t>int</a:t>
            </a:r>
            <a:r>
              <a:rPr sz="1600" dirty="0"/>
              <a:t>*로 </a:t>
            </a:r>
            <a:r>
              <a:rPr sz="1600" dirty="0" err="1"/>
              <a:t>읽기</a:t>
            </a:r>
            <a:r>
              <a:rPr sz="1600" dirty="0"/>
              <a:t>: 0x%X\n", *</a:t>
            </a:r>
            <a:r>
              <a:rPr sz="1600" dirty="0" err="1"/>
              <a:t>ip</a:t>
            </a:r>
            <a:r>
              <a:rPr sz="16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("char*로 </a:t>
            </a:r>
            <a:r>
              <a:rPr sz="1600" dirty="0" err="1"/>
              <a:t>읽기</a:t>
            </a:r>
            <a:r>
              <a:rPr sz="1600" dirty="0"/>
              <a:t>:\n");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for(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= 0; </a:t>
            </a:r>
            <a:r>
              <a:rPr sz="1600" dirty="0" err="1"/>
              <a:t>i</a:t>
            </a:r>
            <a:r>
              <a:rPr sz="1600" dirty="0"/>
              <a:t> &lt; 4; </a:t>
            </a:r>
            <a:r>
              <a:rPr sz="1600" dirty="0" err="1"/>
              <a:t>i</a:t>
            </a:r>
            <a:r>
              <a:rPr sz="1600" dirty="0"/>
              <a:t>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    </a:t>
            </a:r>
            <a:r>
              <a:rPr sz="1600" dirty="0" err="1"/>
              <a:t>printf</a:t>
            </a:r>
            <a:r>
              <a:rPr sz="1600" dirty="0"/>
              <a:t>("  </a:t>
            </a:r>
            <a:r>
              <a:rPr sz="1600" dirty="0" err="1"/>
              <a:t>바이트</a:t>
            </a:r>
            <a:r>
              <a:rPr sz="1600" dirty="0"/>
              <a:t>[%d] = 0x%02X ('%c')\n",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    </a:t>
            </a:r>
            <a:r>
              <a:rPr sz="1600" dirty="0" err="1"/>
              <a:t>i</a:t>
            </a:r>
            <a:r>
              <a:rPr sz="1600" dirty="0"/>
              <a:t>, (unsigned char)</a:t>
            </a:r>
            <a:r>
              <a:rPr sz="1600" dirty="0" err="1"/>
              <a:t>cp</a:t>
            </a:r>
            <a:r>
              <a:rPr sz="1600" dirty="0"/>
              <a:t>[</a:t>
            </a:r>
            <a:r>
              <a:rPr sz="1600" dirty="0" err="1"/>
              <a:t>i</a:t>
            </a:r>
            <a:r>
              <a:rPr sz="1600" dirty="0"/>
              <a:t>], </a:t>
            </a:r>
            <a:r>
              <a:rPr sz="1600" dirty="0" err="1"/>
              <a:t>cp</a:t>
            </a:r>
            <a:r>
              <a:rPr sz="1600" dirty="0"/>
              <a:t>[</a:t>
            </a:r>
            <a:r>
              <a:rPr sz="1600" dirty="0" err="1"/>
              <a:t>i</a:t>
            </a:r>
            <a:r>
              <a:rPr sz="1600" dirty="0"/>
              <a:t>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void *</a:t>
            </a:r>
            <a:r>
              <a:rPr sz="1600" dirty="0" err="1"/>
              <a:t>vp</a:t>
            </a:r>
            <a:r>
              <a:rPr sz="1600" dirty="0"/>
              <a:t> = &amp;</a:t>
            </a:r>
            <a:r>
              <a:rPr sz="1600" dirty="0" err="1"/>
              <a:t>num</a:t>
            </a:r>
            <a:r>
              <a:rPr sz="16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("void* </a:t>
            </a:r>
            <a:r>
              <a:rPr sz="1600" dirty="0" err="1"/>
              <a:t>주소</a:t>
            </a:r>
            <a:r>
              <a:rPr sz="1600" dirty="0"/>
              <a:t>: %p\n", </a:t>
            </a:r>
            <a:r>
              <a:rPr sz="1600" dirty="0" err="1"/>
              <a:t>vp</a:t>
            </a:r>
            <a:r>
              <a:rPr sz="16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("void* → </a:t>
            </a:r>
            <a:r>
              <a:rPr sz="1600" dirty="0" err="1"/>
              <a:t>int</a:t>
            </a:r>
            <a:r>
              <a:rPr sz="1600" dirty="0"/>
              <a:t>*: %d\n", *(</a:t>
            </a:r>
            <a:r>
              <a:rPr sz="1600" dirty="0" err="1"/>
              <a:t>int</a:t>
            </a:r>
            <a:r>
              <a:rPr sz="1600" dirty="0"/>
              <a:t>*)</a:t>
            </a:r>
            <a:r>
              <a:rPr sz="1600" dirty="0" err="1"/>
              <a:t>vp</a:t>
            </a:r>
            <a:r>
              <a:rPr sz="16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06 | 포인터와 자료형의 관계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num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0x41424344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0x7FFE0038+0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바이트[0]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0x44 ('D')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char (1B)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0x7FFE0038+1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바이트[1]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0x43 ('C')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char (1B)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0x7FFE0038+2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바이트[2]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0x42 ('B')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char (1B)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0x7FFE0038+3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바이트[3]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0x41 ('A')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char (1B)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int*는 4바이트 전체를 한 번에 읽음 / char*는 1바이트씩 개별 접근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6634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46634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6634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6634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6634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06 | 포인터와 자료형의 관계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포인터 자료형은 메모리 읽기/쓰기 단위를 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같은 주소라도 자료형에 따라 다른 값으로 해석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void*는 범용 포인터 (역참조 불가, 캐스팅 필요)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리틀 엔디안: 낮은 주소에 하위 바이트 저장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06 핵심 포인트를 반드시 기억하세요!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포인터 연산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07 | 포인터 연산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포인터 산술 연산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 + n = 주소 + (n × sizeof(자료형))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int* + 1 = 주소 + 4바이트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char* + 1 = 주소 + 1바이트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96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double* + 1 = 주소 + 8바이트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8152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포인터 뺄셈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 - 포인터 = 두 주소 사이의 요소 개수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같은 배열 내에서만 의미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33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결과 타입: ptrdiff_t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07 | 포인터 연산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rPr sz="2000"/>
              <a:t>#include &lt;stdio.h&gt;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000"/>
              <a:t>int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000"/>
              <a:t>    int arr[] = {10, 20, 30, 40, 50};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000"/>
              <a:t>    int *p = arr;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printf("p   = %p, *p   = %d\n", p, *p);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printf("p+1 = %p, *(p+1)= %d\n", p+1, *(p+1));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printf("p+2 = %p, *(p+2)= %d\n", p+2, *(p+2));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000"/>
              <a:t>    char *cp = (char*)arr;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printf("\nchar* cp   = %p\n", cp);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printf("char* cp+1 = %p (1바이트 이동)\n", cp+1);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2D3EE"/>
                </a:solidFill>
                <a:latin typeface="Consolas"/>
              </a:defRPr>
            </a:pPr>
            <a:r>
              <a:rPr sz="2000"/>
              <a:t>    int *end = &amp;arr[4];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DE047"/>
                </a:solidFill>
                <a:latin typeface="Consolas"/>
              </a:defRPr>
            </a:pPr>
            <a:r>
              <a:rPr sz="2000"/>
              <a:t>    printf("\n포인터 차이: end - p = %td\n", end - 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B923C"/>
                </a:solidFill>
                <a:latin typeface="Consolas"/>
              </a:defRPr>
            </a:pPr>
            <a:r>
              <a:rPr sz="200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2000"/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07 | 포인터 연산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arr[0]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0x7FFE0024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arr[1]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arr[2]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0x7FFE002C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arr[3]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arr[4]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p → arr[0], p+1 → arr[1], p+2 → arr[2] : int* +1 = 4바이트씩 이동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1206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1206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1206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1206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1206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07 | 포인터 연산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int* + 1 = 4바이트 이동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char* + 1 = 1바이트 이동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포인터 뺄셈 = 요소 개수 차이 반환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포인터 연산은 자료형 크기 기반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07 핵심 포인트를 반드시 기억하세요!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배열과 메모리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08 | 배열과 메모리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배열의 메모리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배열 = 연속된 메모리 공간에 같은 타입 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배열명 = 첫 번째 요소의 주소 (상수 포인터)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arr[i] == *(arr + i) : 동일한 접근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배열 크기 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sizeof(arr) = 배열 전체 크기 (바이트)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sizeof(arr[0]) = 요소 하나의 크기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배열 길이 = sizeof(arr) / sizeof(arr[0])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08 | 배열과 메모리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#include &lt;</a:t>
            </a:r>
            <a:r>
              <a:rPr sz="2000" dirty="0" err="1"/>
              <a:t>stdio.h</a:t>
            </a:r>
            <a:r>
              <a:rPr sz="20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2000" dirty="0" err="1"/>
              <a:t>int</a:t>
            </a:r>
            <a:r>
              <a:rPr sz="20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int</a:t>
            </a:r>
            <a:r>
              <a:rPr sz="2000" dirty="0"/>
              <a:t> </a:t>
            </a:r>
            <a:r>
              <a:rPr sz="2000" dirty="0" err="1"/>
              <a:t>arr</a:t>
            </a:r>
            <a:r>
              <a:rPr sz="2000" dirty="0"/>
              <a:t>[5] = {10, 20, 30, 40, 50};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배열</a:t>
            </a:r>
            <a:r>
              <a:rPr sz="2000" dirty="0"/>
              <a:t> </a:t>
            </a:r>
            <a:r>
              <a:rPr sz="2000" dirty="0" err="1"/>
              <a:t>시작</a:t>
            </a:r>
            <a:r>
              <a:rPr sz="2000" dirty="0"/>
              <a:t> </a:t>
            </a:r>
            <a:r>
              <a:rPr sz="2000" dirty="0" err="1"/>
              <a:t>주소</a:t>
            </a:r>
            <a:r>
              <a:rPr sz="2000" dirty="0"/>
              <a:t>: %p\n", (void*)</a:t>
            </a:r>
            <a:r>
              <a:rPr sz="2000" dirty="0" err="1"/>
              <a:t>arr</a:t>
            </a:r>
            <a:r>
              <a:rPr sz="20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for(</a:t>
            </a:r>
            <a:r>
              <a:rPr sz="2000" dirty="0" err="1"/>
              <a:t>int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= 0; </a:t>
            </a:r>
            <a:r>
              <a:rPr sz="2000" dirty="0" err="1"/>
              <a:t>i</a:t>
            </a:r>
            <a:r>
              <a:rPr sz="2000" dirty="0"/>
              <a:t> &lt; 5; </a:t>
            </a:r>
            <a:r>
              <a:rPr sz="2000" dirty="0" err="1"/>
              <a:t>i</a:t>
            </a:r>
            <a:r>
              <a:rPr sz="2000" dirty="0"/>
              <a:t>++)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arr</a:t>
            </a:r>
            <a:r>
              <a:rPr sz="2000" dirty="0"/>
              <a:t>[%d]: </a:t>
            </a:r>
            <a:r>
              <a:rPr sz="2000" dirty="0" err="1"/>
              <a:t>주소</a:t>
            </a:r>
            <a:r>
              <a:rPr sz="2000" dirty="0"/>
              <a:t>=%p, 값=%d\n",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           </a:t>
            </a:r>
            <a:r>
              <a:rPr sz="2000" dirty="0" err="1"/>
              <a:t>i</a:t>
            </a:r>
            <a:r>
              <a:rPr sz="2000" dirty="0"/>
              <a:t>, (void*)&amp;</a:t>
            </a:r>
            <a:r>
              <a:rPr sz="2000" dirty="0" err="1"/>
              <a:t>arr</a:t>
            </a:r>
            <a:r>
              <a:rPr sz="2000" dirty="0"/>
              <a:t>[</a:t>
            </a:r>
            <a:r>
              <a:rPr sz="2000" dirty="0" err="1"/>
              <a:t>i</a:t>
            </a:r>
            <a:r>
              <a:rPr sz="2000" dirty="0"/>
              <a:t>], </a:t>
            </a:r>
            <a:r>
              <a:rPr sz="2000" dirty="0" err="1"/>
              <a:t>arr</a:t>
            </a:r>
            <a:r>
              <a:rPr sz="2000" dirty="0"/>
              <a:t>[</a:t>
            </a:r>
            <a:r>
              <a:rPr sz="2000" dirty="0" err="1"/>
              <a:t>i</a:t>
            </a:r>
            <a:r>
              <a:rPr sz="2000" dirty="0"/>
              <a:t>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("\</a:t>
            </a:r>
            <a:r>
              <a:rPr sz="2000" dirty="0" err="1"/>
              <a:t>nsizeof</a:t>
            </a:r>
            <a:r>
              <a:rPr sz="2000" dirty="0"/>
              <a:t>(</a:t>
            </a:r>
            <a:r>
              <a:rPr sz="2000" dirty="0" err="1"/>
              <a:t>arr</a:t>
            </a:r>
            <a:r>
              <a:rPr sz="2000" dirty="0"/>
              <a:t>) = %</a:t>
            </a:r>
            <a:r>
              <a:rPr sz="2000" dirty="0" err="1"/>
              <a:t>zu</a:t>
            </a:r>
            <a:r>
              <a:rPr sz="2000" dirty="0"/>
              <a:t>\n", </a:t>
            </a:r>
            <a:r>
              <a:rPr sz="2000" dirty="0" err="1"/>
              <a:t>sizeof</a:t>
            </a:r>
            <a:r>
              <a:rPr sz="2000" dirty="0"/>
              <a:t>(</a:t>
            </a:r>
            <a:r>
              <a:rPr sz="2000" dirty="0" err="1"/>
              <a:t>arr</a:t>
            </a:r>
            <a:r>
              <a:rPr sz="2000" dirty="0"/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sizeof</a:t>
            </a:r>
            <a:r>
              <a:rPr sz="2000" dirty="0"/>
              <a:t>(</a:t>
            </a:r>
            <a:r>
              <a:rPr sz="2000" dirty="0" err="1"/>
              <a:t>arr</a:t>
            </a:r>
            <a:r>
              <a:rPr sz="2000" dirty="0"/>
              <a:t>[0]) = %</a:t>
            </a:r>
            <a:r>
              <a:rPr sz="2000" dirty="0" err="1"/>
              <a:t>zu</a:t>
            </a:r>
            <a:r>
              <a:rPr sz="2000" dirty="0"/>
              <a:t>\n", </a:t>
            </a:r>
            <a:r>
              <a:rPr sz="2000" dirty="0" err="1"/>
              <a:t>sizeof</a:t>
            </a:r>
            <a:r>
              <a:rPr sz="2000" dirty="0"/>
              <a:t>(</a:t>
            </a:r>
            <a:r>
              <a:rPr sz="2000" dirty="0" err="1"/>
              <a:t>arr</a:t>
            </a:r>
            <a:r>
              <a:rPr sz="2000" dirty="0"/>
              <a:t>[0]));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배열</a:t>
            </a:r>
            <a:r>
              <a:rPr sz="2000" dirty="0"/>
              <a:t> </a:t>
            </a:r>
            <a:r>
              <a:rPr sz="2000" dirty="0" err="1"/>
              <a:t>길이</a:t>
            </a:r>
            <a:r>
              <a:rPr sz="2000" dirty="0"/>
              <a:t> = %</a:t>
            </a:r>
            <a:r>
              <a:rPr sz="2000" dirty="0" err="1"/>
              <a:t>zu</a:t>
            </a:r>
            <a:r>
              <a:rPr sz="2000" dirty="0"/>
              <a:t>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       </a:t>
            </a:r>
            <a:r>
              <a:rPr sz="2000" dirty="0" err="1"/>
              <a:t>sizeof</a:t>
            </a:r>
            <a:r>
              <a:rPr sz="2000" dirty="0"/>
              <a:t>(</a:t>
            </a:r>
            <a:r>
              <a:rPr sz="2000" dirty="0" err="1"/>
              <a:t>arr</a:t>
            </a:r>
            <a:r>
              <a:rPr sz="2000" dirty="0"/>
              <a:t>)/</a:t>
            </a:r>
            <a:r>
              <a:rPr sz="2000" dirty="0" err="1"/>
              <a:t>sizeof</a:t>
            </a:r>
            <a:r>
              <a:rPr sz="2000" dirty="0"/>
              <a:t>(</a:t>
            </a:r>
            <a:r>
              <a:rPr sz="2000" dirty="0" err="1"/>
              <a:t>arr</a:t>
            </a:r>
            <a:r>
              <a:rPr sz="2000" dirty="0"/>
              <a:t>[0]));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08 | 배열과 메모리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arr[0]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0x7FFE0024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arr[1]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arr[2]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0x7FFE002C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arr[3]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arr[4]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arr = &amp;arr[0] = 0x7FFE0020 : 배열명은 첫 번째 요소의 주소 (연속 배치, 4B 간격)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6634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46634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6634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6634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6634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08 | 배열과 메모리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배열은 메모리에 연속 배치됨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배열명은 상수 포인터 (주소 변경 불가)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sizeof(배열) = 전체 크기 (바이트)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배열 길이 = sizeof(arr) / sizeof(arr[0])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08 핵심 포인트를 반드시 기억하세요!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배열과 포인터의 관계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09 | 배열과 포인터의 관계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배열과 포인터의 등가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arr[i] == *(arr+i) == p[i] == *(p+i)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4가지 표현 모두 동일한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포인터로 배열의 모든 요소 접근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배열명 vs 포인터의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배열명: 상수 → 주소 변경 불가 (arr++ 불가)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포인터: 변수 → 주소 변경 가능 (p++ 가능)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sizeof 차이: sizeof(arr)=전체, sizeof(p)=8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09 | 배열과 포인터의 관계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#include &lt;</a:t>
            </a:r>
            <a:r>
              <a:rPr sz="1600" dirty="0" err="1"/>
              <a:t>stdio.h</a:t>
            </a:r>
            <a:r>
              <a:rPr sz="16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 dirty="0" err="1"/>
              <a:t>int</a:t>
            </a:r>
            <a:r>
              <a:rPr sz="16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arr</a:t>
            </a:r>
            <a:r>
              <a:rPr sz="1600" dirty="0"/>
              <a:t>[5] = {10, 20, 30, 40, 50};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*p = </a:t>
            </a:r>
            <a:r>
              <a:rPr sz="1600" dirty="0" err="1"/>
              <a:t>arr</a:t>
            </a:r>
            <a:r>
              <a:rPr sz="16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("=== </a:t>
            </a:r>
            <a:r>
              <a:rPr sz="1600" dirty="0" err="1"/>
              <a:t>배열</a:t>
            </a:r>
            <a:r>
              <a:rPr sz="1600" dirty="0"/>
              <a:t> </a:t>
            </a:r>
            <a:r>
              <a:rPr sz="1600" dirty="0" err="1"/>
              <a:t>첨자</a:t>
            </a:r>
            <a:r>
              <a:rPr sz="1600" dirty="0"/>
              <a:t> vs </a:t>
            </a:r>
            <a:r>
              <a:rPr sz="1600" dirty="0" err="1"/>
              <a:t>포인터</a:t>
            </a:r>
            <a:r>
              <a:rPr sz="1600" dirty="0"/>
              <a:t> </a:t>
            </a:r>
            <a:r>
              <a:rPr sz="1600" dirty="0" err="1"/>
              <a:t>연산</a:t>
            </a:r>
            <a:r>
              <a:rPr sz="1600" dirty="0"/>
              <a:t> ===\n");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for(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= 0; </a:t>
            </a:r>
            <a:r>
              <a:rPr sz="1600" dirty="0" err="1"/>
              <a:t>i</a:t>
            </a:r>
            <a:r>
              <a:rPr sz="1600" dirty="0"/>
              <a:t> &lt; 5; </a:t>
            </a:r>
            <a:r>
              <a:rPr sz="1600" dirty="0" err="1"/>
              <a:t>i</a:t>
            </a:r>
            <a:r>
              <a:rPr sz="1600" dirty="0"/>
              <a:t>++)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    </a:t>
            </a:r>
            <a:r>
              <a:rPr sz="1600" dirty="0" err="1"/>
              <a:t>printf</a:t>
            </a:r>
            <a:r>
              <a:rPr sz="1600" dirty="0"/>
              <a:t>("</a:t>
            </a:r>
            <a:r>
              <a:rPr sz="1600" dirty="0" err="1"/>
              <a:t>arr</a:t>
            </a:r>
            <a:r>
              <a:rPr sz="1600" dirty="0"/>
              <a:t>[%d]=%d  *(</a:t>
            </a:r>
            <a:r>
              <a:rPr sz="1600" dirty="0" err="1"/>
              <a:t>arr</a:t>
            </a:r>
            <a:r>
              <a:rPr sz="1600" dirty="0"/>
              <a:t>+%d)=%d  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    "p[%d]=%d  *(p+%d)=%d\n",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    </a:t>
            </a:r>
            <a:r>
              <a:rPr sz="1600" dirty="0" err="1"/>
              <a:t>i</a:t>
            </a:r>
            <a:r>
              <a:rPr sz="1600" dirty="0"/>
              <a:t>, </a:t>
            </a:r>
            <a:r>
              <a:rPr sz="1600" dirty="0" err="1"/>
              <a:t>arr</a:t>
            </a:r>
            <a:r>
              <a:rPr sz="1600" dirty="0"/>
              <a:t>[</a:t>
            </a:r>
            <a:r>
              <a:rPr sz="1600" dirty="0" err="1"/>
              <a:t>i</a:t>
            </a:r>
            <a:r>
              <a:rPr sz="1600" dirty="0"/>
              <a:t>], </a:t>
            </a:r>
            <a:r>
              <a:rPr sz="1600" dirty="0" err="1"/>
              <a:t>i</a:t>
            </a:r>
            <a:r>
              <a:rPr sz="1600" dirty="0"/>
              <a:t>, *(</a:t>
            </a:r>
            <a:r>
              <a:rPr sz="1600" dirty="0" err="1"/>
              <a:t>arr+i</a:t>
            </a:r>
            <a:r>
              <a:rPr sz="1600" dirty="0"/>
              <a:t>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    </a:t>
            </a:r>
            <a:r>
              <a:rPr sz="1600" dirty="0" err="1"/>
              <a:t>i</a:t>
            </a:r>
            <a:r>
              <a:rPr sz="1600" dirty="0"/>
              <a:t>, p[</a:t>
            </a:r>
            <a:r>
              <a:rPr sz="1600" dirty="0" err="1"/>
              <a:t>i</a:t>
            </a:r>
            <a:r>
              <a:rPr sz="1600" dirty="0"/>
              <a:t>], </a:t>
            </a:r>
            <a:r>
              <a:rPr sz="1600" dirty="0" err="1"/>
              <a:t>i</a:t>
            </a:r>
            <a:r>
              <a:rPr sz="1600" dirty="0"/>
              <a:t>, *(</a:t>
            </a:r>
            <a:r>
              <a:rPr sz="1600" dirty="0" err="1"/>
              <a:t>p+i</a:t>
            </a:r>
            <a:r>
              <a:rPr sz="1600" dirty="0"/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("\n=== </a:t>
            </a:r>
            <a:r>
              <a:rPr sz="1600" dirty="0" err="1"/>
              <a:t>포인터</a:t>
            </a:r>
            <a:r>
              <a:rPr sz="1600" dirty="0"/>
              <a:t> </a:t>
            </a:r>
            <a:r>
              <a:rPr sz="1600" dirty="0" err="1"/>
              <a:t>이동으로</a:t>
            </a:r>
            <a:r>
              <a:rPr sz="1600" dirty="0"/>
              <a:t> </a:t>
            </a:r>
            <a:r>
              <a:rPr sz="1600" dirty="0" err="1"/>
              <a:t>순회</a:t>
            </a:r>
            <a:r>
              <a:rPr sz="1600" dirty="0"/>
              <a:t> ===\n");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*q = </a:t>
            </a:r>
            <a:r>
              <a:rPr sz="1600" dirty="0" err="1"/>
              <a:t>arr</a:t>
            </a:r>
            <a:r>
              <a:rPr sz="16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while(q &lt; </a:t>
            </a:r>
            <a:r>
              <a:rPr sz="1600" dirty="0" err="1"/>
              <a:t>arr</a:t>
            </a:r>
            <a:r>
              <a:rPr sz="1600" dirty="0"/>
              <a:t> + 5)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    </a:t>
            </a:r>
            <a:r>
              <a:rPr sz="1600" dirty="0" err="1"/>
              <a:t>printf</a:t>
            </a:r>
            <a:r>
              <a:rPr sz="1600" dirty="0"/>
              <a:t>("%d ", *q);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q++;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09 | 배열과 포인터의 관계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arr[0]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0x7FFE0024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arr[1]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arr[2]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0x7FFE002C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arr[3]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arr[4]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p → arr[0] : arr[i] == *(arr+i) == p[i] == *(p+i) (4가지 동일 접근)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1206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1206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1206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1206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1206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09 | 배열과 포인터의 관계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arr[i] == *(arr+i) == p[i] == *(p+i)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배열명 = 주소 변경 불가 (상수 포인터)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포인터 = 주소 변경 가능 (변수)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sizeof(arr) = 전체 크기, sizeof(p) = 8바이트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09 핵심 포인트를 반드시 기억하세요!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문자열과 포인터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10 | 문자열과 포인터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char 배열 vs char 포인터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char str1[] = "Hello";  → 스택에 복사 (수정 가능)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char *str2 = "World";   → 데이터 영역 가리킴 (수정 불가)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sizeof(str1) = 6 (문자 + '\0')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96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sizeof(str2) = 8 (포인터 크기)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8152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문자열 순회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포인터로 문자열 순회: while(*p) { ... p++;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'\0' (NULL 문자)을 만나면 종료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33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문자열 = char 배열 + '\0' 종단 문자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10 | 문자열과 포인터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84605"/>
            <a:ext cx="110642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#include &lt;</a:t>
            </a:r>
            <a:r>
              <a:rPr sz="2000" dirty="0" err="1"/>
              <a:t>stdio.h</a:t>
            </a:r>
            <a:r>
              <a:rPr sz="20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#include &lt;</a:t>
            </a:r>
            <a:r>
              <a:rPr sz="2000" dirty="0" err="1"/>
              <a:t>string.h</a:t>
            </a:r>
            <a:r>
              <a:rPr sz="20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 err="1"/>
              <a:t>int</a:t>
            </a:r>
            <a:r>
              <a:rPr sz="20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char str1[] = "Hello";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char *str2 = "World";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("str1: %s (</a:t>
            </a:r>
            <a:r>
              <a:rPr sz="2000" dirty="0" err="1"/>
              <a:t>주소</a:t>
            </a:r>
            <a:r>
              <a:rPr sz="2000" dirty="0"/>
              <a:t>: %p, </a:t>
            </a:r>
            <a:r>
              <a:rPr sz="2000" dirty="0" err="1"/>
              <a:t>크기</a:t>
            </a:r>
            <a:r>
              <a:rPr sz="2000" dirty="0"/>
              <a:t>: %</a:t>
            </a:r>
            <a:r>
              <a:rPr sz="2000" dirty="0" err="1"/>
              <a:t>zu</a:t>
            </a:r>
            <a:r>
              <a:rPr sz="2000" dirty="0"/>
              <a:t>)\n",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       str1, str1, </a:t>
            </a:r>
            <a:r>
              <a:rPr sz="2000" dirty="0" err="1"/>
              <a:t>sizeof</a:t>
            </a:r>
            <a:r>
              <a:rPr sz="2000" dirty="0"/>
              <a:t>(str1));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("str2: %s (</a:t>
            </a:r>
            <a:r>
              <a:rPr sz="2000" dirty="0" err="1"/>
              <a:t>주소</a:t>
            </a:r>
            <a:r>
              <a:rPr sz="2000" dirty="0"/>
              <a:t>: %p, </a:t>
            </a:r>
            <a:r>
              <a:rPr sz="2000" dirty="0" err="1"/>
              <a:t>크기</a:t>
            </a:r>
            <a:r>
              <a:rPr sz="2000" dirty="0"/>
              <a:t>: %</a:t>
            </a:r>
            <a:r>
              <a:rPr sz="2000" dirty="0" err="1"/>
              <a:t>zu</a:t>
            </a:r>
            <a:r>
              <a:rPr sz="2000" dirty="0"/>
              <a:t>)\n",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       str2, str2, </a:t>
            </a:r>
            <a:r>
              <a:rPr sz="2000" dirty="0" err="1"/>
              <a:t>sizeof</a:t>
            </a:r>
            <a:r>
              <a:rPr sz="2000" dirty="0"/>
              <a:t>(str2));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str1[0] = 'h';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("str1 </a:t>
            </a:r>
            <a:r>
              <a:rPr sz="2000" dirty="0" err="1"/>
              <a:t>수정</a:t>
            </a:r>
            <a:r>
              <a:rPr sz="2000" dirty="0"/>
              <a:t> 후: %s\n", str1);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rPr sz="2000" dirty="0"/>
              <a:t>    // str2[0] = 'w';  // SEGFAULT!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char *p = str1;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포인터로</a:t>
            </a:r>
            <a:r>
              <a:rPr sz="2000" dirty="0"/>
              <a:t> </a:t>
            </a:r>
            <a:r>
              <a:rPr sz="2000" dirty="0" err="1"/>
              <a:t>순회</a:t>
            </a:r>
            <a:r>
              <a:rPr sz="2000" dirty="0"/>
              <a:t>: 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while(*p) { </a:t>
            </a:r>
            <a:r>
              <a:rPr sz="2000" dirty="0" err="1"/>
              <a:t>printf</a:t>
            </a:r>
            <a:r>
              <a:rPr sz="2000" dirty="0"/>
              <a:t>("%c ", *p); p++;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10 | 문자열과 포인터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0x00404000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"World"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W,o,r,l,d,\0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데이터 영역 (읽기전용)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str1[0..5]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H,e,l,l,o,\0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char[6] (스택, 수정가능)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str2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0x00404000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char*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str2(0x7FFE0040) → "World"(0x00404000) : 데이터 영역의 문자열 리터럴 가리킴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3749039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3749039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749039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749039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749039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10 | 문자열과 포인터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char[]은 스택에 복사 → 수정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char*는 데이터 영역 → 수정 불가 (읽기 전용)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sizeof 차이: char[] = 문자열 크기, char* = 8바이트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문자열 끝은 항상 '\0' (NULL 문자)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10 핵심 포인트를 반드시 기억하세요!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Call by Value vs Call by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11 | Call by Value vs Call by Reference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Call by Value (값에 의한 호출)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함수에 값의 복사본을 전달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함수 내부에서 변경해도 원본은 불변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swap_value(x, y) → x, y 변경 안 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Call by Reference (참조에 의한 호출)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함수에 변수의 주소를 전달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포인터를 통해 원본 값을 직접 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swap_ref(&amp;x, &amp;y) → x, y 실제 변경됨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11 | Call by Value vs Call by Reference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#include &lt;</a:t>
            </a:r>
            <a:r>
              <a:rPr sz="1600" dirty="0" err="1"/>
              <a:t>stdio.h</a:t>
            </a:r>
            <a:r>
              <a:rPr sz="16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void </a:t>
            </a:r>
            <a:r>
              <a:rPr sz="1600" dirty="0" err="1"/>
              <a:t>swap_value</a:t>
            </a:r>
            <a:r>
              <a:rPr sz="1600" dirty="0"/>
              <a:t>(</a:t>
            </a:r>
            <a:r>
              <a:rPr sz="1600" dirty="0" err="1"/>
              <a:t>int</a:t>
            </a:r>
            <a:r>
              <a:rPr sz="1600" dirty="0"/>
              <a:t> a, </a:t>
            </a:r>
            <a:r>
              <a:rPr sz="1600" dirty="0" err="1"/>
              <a:t>int</a:t>
            </a:r>
            <a:r>
              <a:rPr sz="1600" dirty="0"/>
              <a:t> b)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temp = a; a = b; b = temp;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  </a:t>
            </a:r>
            <a:r>
              <a:rPr sz="1600" dirty="0" err="1"/>
              <a:t>함수</a:t>
            </a:r>
            <a:r>
              <a:rPr sz="1600" dirty="0"/>
              <a:t> </a:t>
            </a:r>
            <a:r>
              <a:rPr sz="1600" dirty="0" err="1"/>
              <a:t>내부</a:t>
            </a:r>
            <a:r>
              <a:rPr sz="1600" dirty="0"/>
              <a:t>: a=%d, b=%d\n", a, b);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void </a:t>
            </a:r>
            <a:r>
              <a:rPr sz="1600" dirty="0" err="1"/>
              <a:t>swap_ref</a:t>
            </a:r>
            <a:r>
              <a:rPr sz="1600" dirty="0"/>
              <a:t>(</a:t>
            </a:r>
            <a:r>
              <a:rPr sz="1600" dirty="0" err="1"/>
              <a:t>int</a:t>
            </a:r>
            <a:r>
              <a:rPr sz="1600" dirty="0"/>
              <a:t> *a, </a:t>
            </a:r>
            <a:r>
              <a:rPr sz="1600" dirty="0" err="1"/>
              <a:t>int</a:t>
            </a:r>
            <a:r>
              <a:rPr sz="1600" dirty="0"/>
              <a:t> *b)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temp = *a; *a = *b; *b = temp;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  </a:t>
            </a:r>
            <a:r>
              <a:rPr sz="1600" dirty="0" err="1"/>
              <a:t>함수</a:t>
            </a:r>
            <a:r>
              <a:rPr sz="1600" dirty="0"/>
              <a:t> </a:t>
            </a:r>
            <a:r>
              <a:rPr sz="1600" dirty="0" err="1"/>
              <a:t>내부</a:t>
            </a:r>
            <a:r>
              <a:rPr sz="1600" dirty="0"/>
              <a:t>: *a=%d, *b=%d\n", *a, *b);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 err="1"/>
              <a:t>int</a:t>
            </a:r>
            <a:r>
              <a:rPr sz="16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x = 10, y = 20;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("Call by Value 전: x=%d, y=%d\n", x, y);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swap_value</a:t>
            </a:r>
            <a:r>
              <a:rPr sz="1600" dirty="0"/>
              <a:t>(x, y);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("Call by Value 후: x=%d, y=%d\n\n", x, y);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("Call by Reference 전: x=%d, y=%d\n", x, y);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swap_ref</a:t>
            </a:r>
            <a:r>
              <a:rPr sz="1600" dirty="0"/>
              <a:t>(&amp;x, &amp;y);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("Call by Reference 후: x=%d, y=%d\n", x, y);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11 | Call by Value vs Call by Reference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x (main)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 → 20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y (main)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 → 10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0x7FFE0010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 (swap_val)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 (복사본)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0x7FFE0014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b (swap_val)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 (복사본)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0x7FFE0008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*a (swap_ref)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x 가리킴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0x7FFE0010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*b (swap_ref)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y 가리킴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swap_value: a,b는 x,y의 복사본 / swap_ref: *a→x, *b→y (원본 직접 접근)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1206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1206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1206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1206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1206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11 | Call by Value vs Call by Reference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Call by Value = 복사본 전달 → 원본 불변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Call by Reference = 주소 전달 → 원본 변경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C언어에서 참조 전달은 포인터로 구현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swap 함수는 포인터 활용의 대표적 예시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11 핵심 포인트를 반드시 기억하세요!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포인터 매개변수 활용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12 | 포인터 매개변수 활용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포인터 매개변수의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여러 값을 동시에 반환 (출력 매개변수)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배열을 함수에 전달 (포인터로 자동 변환)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구조체 포인터로 큰 데이터 효율적 전달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배열 매개변수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배열은 항상 포인터로 전달됨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함수 내에서 배열 크기 알 수 없음 → 크기 별도 전달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void func(int *arr, int size) 패턴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12 | 포인터 매개변수 활용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400" dirty="0"/>
              <a:t>#include &lt;</a:t>
            </a:r>
            <a:r>
              <a:rPr sz="1400" dirty="0" err="1"/>
              <a:t>stdio.h</a:t>
            </a:r>
            <a:r>
              <a:rPr sz="14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void </a:t>
            </a:r>
            <a:r>
              <a:rPr sz="1400" dirty="0" err="1"/>
              <a:t>getMinMax</a:t>
            </a:r>
            <a:r>
              <a:rPr sz="1400" dirty="0"/>
              <a:t>(</a:t>
            </a:r>
            <a:r>
              <a:rPr sz="1400" dirty="0" err="1"/>
              <a:t>int</a:t>
            </a:r>
            <a:r>
              <a:rPr sz="1400" dirty="0"/>
              <a:t> *</a:t>
            </a:r>
            <a:r>
              <a:rPr sz="1400" dirty="0" err="1"/>
              <a:t>arr</a:t>
            </a:r>
            <a:r>
              <a:rPr sz="1400" dirty="0"/>
              <a:t>, </a:t>
            </a:r>
            <a:r>
              <a:rPr sz="1400" dirty="0" err="1"/>
              <a:t>int</a:t>
            </a:r>
            <a:r>
              <a:rPr sz="1400" dirty="0"/>
              <a:t> size,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               </a:t>
            </a:r>
            <a:r>
              <a:rPr sz="1400" dirty="0" err="1"/>
              <a:t>int</a:t>
            </a:r>
            <a:r>
              <a:rPr sz="1400" dirty="0"/>
              <a:t> *min, </a:t>
            </a:r>
            <a:r>
              <a:rPr sz="1400" dirty="0" err="1"/>
              <a:t>int</a:t>
            </a:r>
            <a:r>
              <a:rPr sz="1400" dirty="0"/>
              <a:t> *max)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*min = *max = </a:t>
            </a:r>
            <a:r>
              <a:rPr sz="1400" dirty="0" err="1"/>
              <a:t>arr</a:t>
            </a:r>
            <a:r>
              <a:rPr sz="1400" dirty="0"/>
              <a:t>[0];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for(</a:t>
            </a:r>
            <a:r>
              <a:rPr sz="1400" dirty="0" err="1"/>
              <a:t>int</a:t>
            </a:r>
            <a:r>
              <a:rPr sz="1400" dirty="0"/>
              <a:t> </a:t>
            </a:r>
            <a:r>
              <a:rPr sz="1400" dirty="0" err="1"/>
              <a:t>i</a:t>
            </a:r>
            <a:r>
              <a:rPr sz="1400" dirty="0"/>
              <a:t> = 1; </a:t>
            </a:r>
            <a:r>
              <a:rPr sz="1400" dirty="0" err="1"/>
              <a:t>i</a:t>
            </a:r>
            <a:r>
              <a:rPr sz="1400" dirty="0"/>
              <a:t> &lt; size; </a:t>
            </a:r>
            <a:r>
              <a:rPr sz="1400" dirty="0" err="1"/>
              <a:t>i</a:t>
            </a:r>
            <a:r>
              <a:rPr sz="1400" dirty="0"/>
              <a:t>++)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    if(</a:t>
            </a:r>
            <a:r>
              <a:rPr sz="1400" dirty="0" err="1"/>
              <a:t>arr</a:t>
            </a:r>
            <a:r>
              <a:rPr sz="1400" dirty="0"/>
              <a:t>[</a:t>
            </a:r>
            <a:r>
              <a:rPr sz="1400" dirty="0" err="1"/>
              <a:t>i</a:t>
            </a:r>
            <a:r>
              <a:rPr sz="1400" dirty="0"/>
              <a:t>] &lt; *min) *min = </a:t>
            </a:r>
            <a:r>
              <a:rPr sz="1400" dirty="0" err="1"/>
              <a:t>arr</a:t>
            </a:r>
            <a:r>
              <a:rPr sz="1400" dirty="0"/>
              <a:t>[</a:t>
            </a:r>
            <a:r>
              <a:rPr sz="1400" dirty="0" err="1"/>
              <a:t>i</a:t>
            </a:r>
            <a:r>
              <a:rPr sz="1400" dirty="0"/>
              <a:t>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    if(</a:t>
            </a:r>
            <a:r>
              <a:rPr sz="1400" dirty="0" err="1"/>
              <a:t>arr</a:t>
            </a:r>
            <a:r>
              <a:rPr sz="1400" dirty="0"/>
              <a:t>[</a:t>
            </a:r>
            <a:r>
              <a:rPr sz="1400" dirty="0" err="1"/>
              <a:t>i</a:t>
            </a:r>
            <a:r>
              <a:rPr sz="1400" dirty="0"/>
              <a:t>] &gt; *max) *max = </a:t>
            </a:r>
            <a:r>
              <a:rPr sz="1400" dirty="0" err="1"/>
              <a:t>arr</a:t>
            </a:r>
            <a:r>
              <a:rPr sz="1400" dirty="0"/>
              <a:t>[</a:t>
            </a:r>
            <a:r>
              <a:rPr sz="1400" dirty="0" err="1"/>
              <a:t>i</a:t>
            </a:r>
            <a:r>
              <a:rPr sz="1400" dirty="0"/>
              <a:t>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void </a:t>
            </a:r>
            <a:r>
              <a:rPr sz="1400" dirty="0" err="1"/>
              <a:t>reverseArray</a:t>
            </a:r>
            <a:r>
              <a:rPr sz="1400" dirty="0"/>
              <a:t>(</a:t>
            </a:r>
            <a:r>
              <a:rPr sz="1400" dirty="0" err="1"/>
              <a:t>int</a:t>
            </a:r>
            <a:r>
              <a:rPr sz="1400" dirty="0"/>
              <a:t> *</a:t>
            </a:r>
            <a:r>
              <a:rPr sz="1400" dirty="0" err="1"/>
              <a:t>arr</a:t>
            </a:r>
            <a:r>
              <a:rPr sz="1400" dirty="0"/>
              <a:t>, </a:t>
            </a:r>
            <a:r>
              <a:rPr sz="1400" dirty="0" err="1"/>
              <a:t>int</a:t>
            </a:r>
            <a:r>
              <a:rPr sz="1400" dirty="0"/>
              <a:t> size)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for(</a:t>
            </a:r>
            <a:r>
              <a:rPr sz="1400" dirty="0" err="1"/>
              <a:t>int</a:t>
            </a:r>
            <a:r>
              <a:rPr sz="1400" dirty="0"/>
              <a:t> </a:t>
            </a:r>
            <a:r>
              <a:rPr sz="1400" dirty="0" err="1"/>
              <a:t>i</a:t>
            </a:r>
            <a:r>
              <a:rPr sz="1400" dirty="0"/>
              <a:t> = 0; </a:t>
            </a:r>
            <a:r>
              <a:rPr sz="1400" dirty="0" err="1"/>
              <a:t>i</a:t>
            </a:r>
            <a:r>
              <a:rPr sz="1400" dirty="0"/>
              <a:t> &lt; size/2; </a:t>
            </a:r>
            <a:r>
              <a:rPr sz="1400" dirty="0" err="1"/>
              <a:t>i</a:t>
            </a:r>
            <a:r>
              <a:rPr sz="1400" dirty="0"/>
              <a:t>++)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        </a:t>
            </a:r>
            <a:r>
              <a:rPr sz="1400" dirty="0" err="1"/>
              <a:t>int</a:t>
            </a:r>
            <a:r>
              <a:rPr sz="1400" dirty="0"/>
              <a:t> temp = </a:t>
            </a:r>
            <a:r>
              <a:rPr sz="1400" dirty="0" err="1"/>
              <a:t>arr</a:t>
            </a:r>
            <a:r>
              <a:rPr sz="1400" dirty="0"/>
              <a:t>[</a:t>
            </a:r>
            <a:r>
              <a:rPr sz="1400" dirty="0" err="1"/>
              <a:t>i</a:t>
            </a:r>
            <a:r>
              <a:rPr sz="1400" dirty="0"/>
              <a:t>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    </a:t>
            </a:r>
            <a:r>
              <a:rPr sz="1400" dirty="0" err="1"/>
              <a:t>arr</a:t>
            </a:r>
            <a:r>
              <a:rPr sz="1400" dirty="0"/>
              <a:t>[</a:t>
            </a:r>
            <a:r>
              <a:rPr sz="1400" dirty="0" err="1"/>
              <a:t>i</a:t>
            </a:r>
            <a:r>
              <a:rPr sz="1400" dirty="0"/>
              <a:t>] = </a:t>
            </a:r>
            <a:r>
              <a:rPr sz="1400" dirty="0" err="1"/>
              <a:t>arr</a:t>
            </a:r>
            <a:r>
              <a:rPr sz="1400" dirty="0"/>
              <a:t>[size-1-i];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    </a:t>
            </a:r>
            <a:r>
              <a:rPr sz="1400" dirty="0" err="1"/>
              <a:t>arr</a:t>
            </a:r>
            <a:r>
              <a:rPr sz="1400" dirty="0"/>
              <a:t>[size-1-i] = temp;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 err="1"/>
              <a:t>int</a:t>
            </a:r>
            <a:r>
              <a:rPr sz="14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int</a:t>
            </a:r>
            <a:r>
              <a:rPr sz="1400" dirty="0"/>
              <a:t> data[] = {38, 7, 91, 23, 55};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int</a:t>
            </a:r>
            <a:r>
              <a:rPr sz="1400" dirty="0"/>
              <a:t> min, max;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getMinMax</a:t>
            </a:r>
            <a:r>
              <a:rPr sz="1400" dirty="0"/>
              <a:t>(data, 5, &amp;min, &amp;max);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printf</a:t>
            </a:r>
            <a:r>
              <a:rPr sz="1400" dirty="0"/>
              <a:t>("</a:t>
            </a:r>
            <a:r>
              <a:rPr sz="1400" dirty="0" err="1"/>
              <a:t>최솟값</a:t>
            </a:r>
            <a:r>
              <a:rPr sz="1400" dirty="0"/>
              <a:t>: %d, </a:t>
            </a:r>
            <a:r>
              <a:rPr sz="1400" dirty="0" err="1"/>
              <a:t>최댓값</a:t>
            </a:r>
            <a:r>
              <a:rPr sz="1400" dirty="0"/>
              <a:t>: %d\n", min, max);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reverseArray</a:t>
            </a:r>
            <a:r>
              <a:rPr sz="1400" dirty="0"/>
              <a:t>(data, 5);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printf</a:t>
            </a:r>
            <a:r>
              <a:rPr sz="1400" dirty="0"/>
              <a:t>("</a:t>
            </a:r>
            <a:r>
              <a:rPr sz="1400" dirty="0" err="1"/>
              <a:t>뒤집기</a:t>
            </a:r>
            <a:r>
              <a:rPr sz="1400" dirty="0"/>
              <a:t>: 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400" dirty="0"/>
              <a:t>    for(</a:t>
            </a:r>
            <a:r>
              <a:rPr sz="1400" dirty="0" err="1"/>
              <a:t>int</a:t>
            </a:r>
            <a:r>
              <a:rPr sz="1400" dirty="0"/>
              <a:t> </a:t>
            </a:r>
            <a:r>
              <a:rPr sz="1400" dirty="0" err="1"/>
              <a:t>i</a:t>
            </a:r>
            <a:r>
              <a:rPr sz="1400" dirty="0"/>
              <a:t>=0;i&lt;5;i++) </a:t>
            </a:r>
            <a:r>
              <a:rPr sz="1400" dirty="0" err="1"/>
              <a:t>printf</a:t>
            </a:r>
            <a:r>
              <a:rPr sz="1400" dirty="0"/>
              <a:t>("%d ",data[</a:t>
            </a:r>
            <a:r>
              <a:rPr sz="1400" dirty="0" err="1"/>
              <a:t>i</a:t>
            </a:r>
            <a:r>
              <a:rPr sz="1400" dirty="0"/>
              <a:t>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4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12 | 포인터 매개변수 활용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data[0..4]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{38,7,91,23,55}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int[5] (20B)</a:t>
                      </a:r>
                    </a:p>
                  </a:txBody>
                  <a:tcPr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0x7FFE004C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0x7FFE0010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 (매개변수)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data 가리킴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0x7FFE0018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min (매개변수)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min 가리킴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max (매개변수)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max 가리킴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함수의 포인터 매개변수들이 main의 변수들을 직접 가리켜 값을 변경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1206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1206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1206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1206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1206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12 | 포인터 매개변수 활용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포인터 매개변수로 다중 값 반환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배열은 함수에 항상 포인터로 전달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배열 크기는 별도 매개변수로 전달 필요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출력 매개변수 패턴으로 효율적 데이터 반환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12 핵심 포인트를 반드시 기억하세요!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함수의 포인터 리턴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13 | 함수의 포인터 리턴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안전한 포인터 반환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동적 할당(malloc) 메모리 주소 → 안전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static 변수 주소 → 안전 (프로그램 종료까지 유지)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호출자가 free() 책임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위험한 포인터 반환 (댕글링 포인터)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지역 변수 주소 반환 → 위험! (함수 종료 시 소멸)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댕글링 포인터: 이미 해제된 메모리를 가리키는 포인터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정의되지 않은 동작(Undefined Behavior) 발생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13 | 함수의 포인터 리턴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400" dirty="0"/>
              <a:t>#include &lt;</a:t>
            </a:r>
            <a:r>
              <a:rPr sz="1400" dirty="0" err="1"/>
              <a:t>stdio.h</a:t>
            </a:r>
            <a:r>
              <a:rPr sz="14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400" dirty="0"/>
              <a:t>#include &lt;</a:t>
            </a:r>
            <a:r>
              <a:rPr sz="1400" dirty="0" err="1"/>
              <a:t>stdlib.h</a:t>
            </a:r>
            <a:r>
              <a:rPr sz="14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 err="1"/>
              <a:t>int</a:t>
            </a:r>
            <a:r>
              <a:rPr sz="1400" dirty="0"/>
              <a:t>* </a:t>
            </a:r>
            <a:r>
              <a:rPr sz="1400" dirty="0" err="1"/>
              <a:t>createArray</a:t>
            </a:r>
            <a:r>
              <a:rPr sz="1400" dirty="0"/>
              <a:t>(</a:t>
            </a:r>
            <a:r>
              <a:rPr sz="1400" dirty="0" err="1"/>
              <a:t>int</a:t>
            </a:r>
            <a:r>
              <a:rPr sz="1400" dirty="0"/>
              <a:t> size)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int</a:t>
            </a:r>
            <a:r>
              <a:rPr sz="1400" dirty="0"/>
              <a:t> *</a:t>
            </a:r>
            <a:r>
              <a:rPr sz="1400" dirty="0" err="1"/>
              <a:t>arr</a:t>
            </a:r>
            <a:r>
              <a:rPr sz="1400" dirty="0"/>
              <a:t> = (</a:t>
            </a:r>
            <a:r>
              <a:rPr sz="1400" dirty="0" err="1"/>
              <a:t>int</a:t>
            </a:r>
            <a:r>
              <a:rPr sz="1400" dirty="0"/>
              <a:t>*)</a:t>
            </a:r>
            <a:r>
              <a:rPr sz="1400" dirty="0" err="1"/>
              <a:t>malloc</a:t>
            </a:r>
            <a:r>
              <a:rPr sz="1400" dirty="0"/>
              <a:t>(</a:t>
            </a:r>
            <a:r>
              <a:rPr sz="1400" dirty="0" err="1"/>
              <a:t>sizeof</a:t>
            </a:r>
            <a:r>
              <a:rPr sz="1400" dirty="0"/>
              <a:t>(</a:t>
            </a:r>
            <a:r>
              <a:rPr sz="1400" dirty="0" err="1"/>
              <a:t>int</a:t>
            </a:r>
            <a:r>
              <a:rPr sz="1400" dirty="0"/>
              <a:t>) * size);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for(</a:t>
            </a:r>
            <a:r>
              <a:rPr sz="1400" dirty="0" err="1"/>
              <a:t>int</a:t>
            </a:r>
            <a:r>
              <a:rPr sz="1400" dirty="0"/>
              <a:t> </a:t>
            </a:r>
            <a:r>
              <a:rPr sz="1400" dirty="0" err="1"/>
              <a:t>i</a:t>
            </a:r>
            <a:r>
              <a:rPr sz="1400" dirty="0"/>
              <a:t> = 0; </a:t>
            </a:r>
            <a:r>
              <a:rPr sz="1400" dirty="0" err="1"/>
              <a:t>i</a:t>
            </a:r>
            <a:r>
              <a:rPr sz="1400" dirty="0"/>
              <a:t> &lt; size; </a:t>
            </a:r>
            <a:r>
              <a:rPr sz="1400" dirty="0" err="1"/>
              <a:t>i</a:t>
            </a:r>
            <a:r>
              <a:rPr sz="1400" dirty="0"/>
              <a:t>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    </a:t>
            </a:r>
            <a:r>
              <a:rPr sz="1400" dirty="0" err="1"/>
              <a:t>arr</a:t>
            </a:r>
            <a:r>
              <a:rPr sz="1400" dirty="0"/>
              <a:t>[</a:t>
            </a:r>
            <a:r>
              <a:rPr sz="1400" dirty="0" err="1"/>
              <a:t>i</a:t>
            </a:r>
            <a:r>
              <a:rPr sz="1400" dirty="0"/>
              <a:t>] = (i+1)*10;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400" dirty="0"/>
              <a:t>    return </a:t>
            </a:r>
            <a:r>
              <a:rPr sz="1400" dirty="0" err="1"/>
              <a:t>arr</a:t>
            </a:r>
            <a:r>
              <a:rPr sz="14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 err="1"/>
              <a:t>int</a:t>
            </a:r>
            <a:r>
              <a:rPr sz="1400" dirty="0"/>
              <a:t>* </a:t>
            </a:r>
            <a:r>
              <a:rPr sz="1400" dirty="0" err="1"/>
              <a:t>getCounter</a:t>
            </a:r>
            <a:r>
              <a:rPr sz="1400" dirty="0"/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    static </a:t>
            </a:r>
            <a:r>
              <a:rPr sz="1400" dirty="0" err="1"/>
              <a:t>int</a:t>
            </a:r>
            <a:r>
              <a:rPr sz="1400" dirty="0"/>
              <a:t> count =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count++;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400" dirty="0"/>
              <a:t>    return &amp;count;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sz="1400" dirty="0"/>
              <a:t>// </a:t>
            </a:r>
            <a:r>
              <a:rPr sz="1400" dirty="0" err="1"/>
              <a:t>int</a:t>
            </a:r>
            <a:r>
              <a:rPr sz="1400" dirty="0"/>
              <a:t>* dangerous()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sz="1400" dirty="0"/>
              <a:t>//     </a:t>
            </a:r>
            <a:r>
              <a:rPr sz="1400" dirty="0" err="1"/>
              <a:t>int</a:t>
            </a:r>
            <a:r>
              <a:rPr sz="1400" dirty="0"/>
              <a:t> x=42; return &amp;x; // </a:t>
            </a:r>
            <a:r>
              <a:rPr sz="1400" dirty="0" err="1"/>
              <a:t>위험</a:t>
            </a:r>
            <a:r>
              <a:rPr sz="1400" dirty="0"/>
              <a:t>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sz="1400" dirty="0"/>
              <a:t>//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 err="1"/>
              <a:t>int</a:t>
            </a:r>
            <a:r>
              <a:rPr sz="14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int</a:t>
            </a:r>
            <a:r>
              <a:rPr sz="1400" dirty="0"/>
              <a:t> *</a:t>
            </a:r>
            <a:r>
              <a:rPr sz="1400" dirty="0" err="1"/>
              <a:t>arr</a:t>
            </a:r>
            <a:r>
              <a:rPr sz="1400" dirty="0"/>
              <a:t> = </a:t>
            </a:r>
            <a:r>
              <a:rPr sz="1400" dirty="0" err="1"/>
              <a:t>createArray</a:t>
            </a:r>
            <a:r>
              <a:rPr sz="1400" dirty="0"/>
              <a:t>(3);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printf</a:t>
            </a:r>
            <a:r>
              <a:rPr sz="1400" dirty="0"/>
              <a:t>("</a:t>
            </a:r>
            <a:r>
              <a:rPr sz="1400" dirty="0" err="1"/>
              <a:t>동적</a:t>
            </a:r>
            <a:r>
              <a:rPr sz="1400" dirty="0"/>
              <a:t> </a:t>
            </a:r>
            <a:r>
              <a:rPr sz="1400" dirty="0" err="1"/>
              <a:t>배열</a:t>
            </a:r>
            <a:r>
              <a:rPr sz="1400" dirty="0"/>
              <a:t>: %d %d %d\n",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       </a:t>
            </a:r>
            <a:r>
              <a:rPr sz="1400" dirty="0" err="1"/>
              <a:t>arr</a:t>
            </a:r>
            <a:r>
              <a:rPr sz="1400" dirty="0"/>
              <a:t>[0], </a:t>
            </a:r>
            <a:r>
              <a:rPr sz="1400" dirty="0" err="1"/>
              <a:t>arr</a:t>
            </a:r>
            <a:r>
              <a:rPr sz="1400" dirty="0"/>
              <a:t>[1], </a:t>
            </a:r>
            <a:r>
              <a:rPr sz="1400" dirty="0" err="1"/>
              <a:t>arr</a:t>
            </a:r>
            <a:r>
              <a:rPr sz="1400" dirty="0"/>
              <a:t>[2]);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int</a:t>
            </a:r>
            <a:r>
              <a:rPr sz="1400" dirty="0"/>
              <a:t> *c1 = </a:t>
            </a:r>
            <a:r>
              <a:rPr sz="1400" dirty="0" err="1"/>
              <a:t>getCounter</a:t>
            </a:r>
            <a:r>
              <a:rPr sz="1400" dirty="0"/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int</a:t>
            </a:r>
            <a:r>
              <a:rPr sz="1400" dirty="0"/>
              <a:t> *c2 = </a:t>
            </a:r>
            <a:r>
              <a:rPr sz="1400" dirty="0" err="1"/>
              <a:t>getCounter</a:t>
            </a:r>
            <a:r>
              <a:rPr sz="1400" dirty="0"/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400" dirty="0"/>
              <a:t>    </a:t>
            </a:r>
            <a:r>
              <a:rPr sz="1400" dirty="0" err="1"/>
              <a:t>printf</a:t>
            </a:r>
            <a:r>
              <a:rPr sz="1400" dirty="0"/>
              <a:t>("</a:t>
            </a:r>
            <a:r>
              <a:rPr sz="1400" dirty="0" err="1"/>
              <a:t>카운터</a:t>
            </a:r>
            <a:r>
              <a:rPr sz="1400" dirty="0"/>
              <a:t>: %d\n", *c2);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400" dirty="0"/>
              <a:t>    free(</a:t>
            </a:r>
            <a:r>
              <a:rPr sz="1400" dirty="0" err="1"/>
              <a:t>arr</a:t>
            </a:r>
            <a:r>
              <a:rPr sz="14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4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13 | 함수의 포인터 리턴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arr[0]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(동적)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0x00B71A44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arr[1]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(동적)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arr[2]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(동적)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0x00604030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count (static)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(데이터영역)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arr (스택)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arr(스택) → 힙 영역 동적 배열 / getCounter → static 변수 (데이터 영역, 안전)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6634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46634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6634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6634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6634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13 | 함수의 포인터 리턴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동적 할당(malloc)이나 static 변수 주소만 안전하게 반환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지역 변수 주소 반환 = 댕글링 포인터 (위험!)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동적 할당 메모리는 반드시 free()로 해제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static 변수는 프로그램 종료까지 유지됨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13 핵심 포인트를 반드시 기억하세요!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const와 포인터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14 | const와 포인터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const 포인터의 3가지 형태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const int *p  → 값 변경 불가, 주소 변경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 * const p → 값 변경 가능, 주소 변경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const int * const p → 둘 다 변경 불가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읽는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* 기준 왼쪽에 const → 값 보호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* 기준 오른쪽에 const → 주소 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API 설계 시 const 활용: 읽기 전용 보장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14 | const와 포인터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#include &lt;</a:t>
            </a:r>
            <a:r>
              <a:rPr sz="2000" dirty="0" err="1"/>
              <a:t>stdio.h</a:t>
            </a:r>
            <a:r>
              <a:rPr sz="20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 err="1"/>
              <a:t>int</a:t>
            </a:r>
            <a:r>
              <a:rPr sz="20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int</a:t>
            </a:r>
            <a:r>
              <a:rPr sz="2000" dirty="0"/>
              <a:t> a = 10, b = 20;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const</a:t>
            </a:r>
            <a:r>
              <a:rPr sz="2000" dirty="0"/>
              <a:t> </a:t>
            </a:r>
            <a:r>
              <a:rPr sz="2000" dirty="0" err="1"/>
              <a:t>int</a:t>
            </a:r>
            <a:r>
              <a:rPr sz="2000" dirty="0"/>
              <a:t> *p1 = &amp;a;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rPr sz="2000" dirty="0"/>
              <a:t>    // *p1 = 30;  // </a:t>
            </a:r>
            <a:r>
              <a:rPr sz="2000" dirty="0" err="1"/>
              <a:t>에러</a:t>
            </a:r>
            <a:r>
              <a:rPr sz="2000" dirty="0"/>
              <a:t>! 값 </a:t>
            </a:r>
            <a:r>
              <a:rPr sz="2000" dirty="0" err="1"/>
              <a:t>변경</a:t>
            </a:r>
            <a:r>
              <a:rPr sz="2000" dirty="0"/>
              <a:t> </a:t>
            </a:r>
            <a:r>
              <a:rPr sz="2000" dirty="0" err="1"/>
              <a:t>불가</a:t>
            </a:r>
            <a:endParaRPr sz="20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p1 = &amp;b;      // OK! </a:t>
            </a:r>
            <a:r>
              <a:rPr sz="2000" dirty="0" err="1"/>
              <a:t>주소</a:t>
            </a:r>
            <a:r>
              <a:rPr sz="2000" dirty="0"/>
              <a:t> </a:t>
            </a:r>
            <a:r>
              <a:rPr sz="2000" dirty="0" err="1"/>
              <a:t>변경</a:t>
            </a:r>
            <a:r>
              <a:rPr sz="2000" dirty="0"/>
              <a:t> </a:t>
            </a:r>
            <a:r>
              <a:rPr sz="2000" dirty="0" err="1"/>
              <a:t>가능</a:t>
            </a:r>
            <a:endParaRPr sz="20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const</a:t>
            </a:r>
            <a:r>
              <a:rPr sz="2000" dirty="0"/>
              <a:t> </a:t>
            </a:r>
            <a:r>
              <a:rPr sz="2000" dirty="0" err="1"/>
              <a:t>int</a:t>
            </a:r>
            <a:r>
              <a:rPr sz="2000" dirty="0"/>
              <a:t> *p1: %d\n", *p1);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int</a:t>
            </a:r>
            <a:r>
              <a:rPr sz="2000" dirty="0"/>
              <a:t> * </a:t>
            </a:r>
            <a:r>
              <a:rPr sz="2000" dirty="0" err="1"/>
              <a:t>const</a:t>
            </a:r>
            <a:r>
              <a:rPr sz="2000" dirty="0"/>
              <a:t> p2 = &amp;a;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*p2 = 30;     // OK! 값 </a:t>
            </a:r>
            <a:r>
              <a:rPr sz="2000" dirty="0" err="1"/>
              <a:t>변경</a:t>
            </a:r>
            <a:r>
              <a:rPr sz="2000" dirty="0"/>
              <a:t> </a:t>
            </a:r>
            <a:r>
              <a:rPr sz="2000" dirty="0" err="1"/>
              <a:t>가능</a:t>
            </a:r>
            <a:endParaRPr sz="20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rPr sz="2000" dirty="0"/>
              <a:t>    // p2 = &amp;b;   // </a:t>
            </a:r>
            <a:r>
              <a:rPr sz="2000" dirty="0" err="1"/>
              <a:t>에러</a:t>
            </a:r>
            <a:r>
              <a:rPr sz="2000" dirty="0"/>
              <a:t>! </a:t>
            </a:r>
            <a:r>
              <a:rPr sz="2000" dirty="0" err="1"/>
              <a:t>주소</a:t>
            </a:r>
            <a:r>
              <a:rPr sz="2000" dirty="0"/>
              <a:t> </a:t>
            </a:r>
            <a:r>
              <a:rPr sz="2000" dirty="0" err="1"/>
              <a:t>변경</a:t>
            </a:r>
            <a:r>
              <a:rPr sz="2000" dirty="0"/>
              <a:t> </a:t>
            </a:r>
            <a:r>
              <a:rPr sz="2000" dirty="0" err="1"/>
              <a:t>불가</a:t>
            </a:r>
            <a:endParaRPr sz="2000"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int</a:t>
            </a:r>
            <a:r>
              <a:rPr sz="2000" dirty="0"/>
              <a:t> * </a:t>
            </a:r>
            <a:r>
              <a:rPr sz="2000" dirty="0" err="1"/>
              <a:t>const</a:t>
            </a:r>
            <a:r>
              <a:rPr sz="2000" dirty="0"/>
              <a:t> p2: %d\n", *p2);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const</a:t>
            </a:r>
            <a:r>
              <a:rPr sz="2000" dirty="0"/>
              <a:t> </a:t>
            </a:r>
            <a:r>
              <a:rPr sz="2000" dirty="0" err="1"/>
              <a:t>int</a:t>
            </a:r>
            <a:r>
              <a:rPr sz="2000" dirty="0"/>
              <a:t> * </a:t>
            </a:r>
            <a:r>
              <a:rPr sz="2000" dirty="0" err="1"/>
              <a:t>const</a:t>
            </a:r>
            <a:r>
              <a:rPr sz="2000" dirty="0"/>
              <a:t> p3 = &amp;a;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rPr sz="2000" dirty="0"/>
              <a:t>    // *p3 = 40;  // </a:t>
            </a:r>
            <a:r>
              <a:rPr sz="2000" dirty="0" err="1"/>
              <a:t>에러</a:t>
            </a:r>
            <a:r>
              <a:rPr sz="2000" dirty="0"/>
              <a:t>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rPr sz="2000" dirty="0"/>
              <a:t>    // p3 = &amp;b;   // </a:t>
            </a:r>
            <a:r>
              <a:rPr sz="2000" dirty="0" err="1"/>
              <a:t>에러</a:t>
            </a:r>
            <a:r>
              <a:rPr sz="2000" dirty="0"/>
              <a:t>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const</a:t>
            </a:r>
            <a:r>
              <a:rPr sz="2000" dirty="0"/>
              <a:t> </a:t>
            </a:r>
            <a:r>
              <a:rPr sz="2000" dirty="0" err="1"/>
              <a:t>int</a:t>
            </a:r>
            <a:r>
              <a:rPr sz="2000" dirty="0"/>
              <a:t> * </a:t>
            </a:r>
            <a:r>
              <a:rPr sz="2000" dirty="0" err="1"/>
              <a:t>const</a:t>
            </a:r>
            <a:r>
              <a:rPr sz="2000" dirty="0"/>
              <a:t> p3: %d\n", *p3);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}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14 | const와 포인터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30 (p2가 변경)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b (주소변경O)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const int*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a (주소고정)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const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p3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a (둘다고정)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const int* const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p1: 값변경X 주소변경O / p2: 값변경O 주소변경X / p3: 값변경X 주소변경X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6634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46634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6634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6634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6634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14 | const와 포인터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const int* p = 값 보호 (읽기 전용 접근)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int* const p = 주소 고정 (다른 변수 가리킬 수 없음)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const int* const p = 값 보호 + 주소 고정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읽기 방법: * 기준 왼쪽=값보호, 오른쪽=주소고정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14 핵심 포인트를 반드시 기억하세요!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동적 메모리 할당 기초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15 | 동적 메모리 할당 기초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동적 메모리 할당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malloc(size): size 바이트 할당 (초기화 안됨)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calloc(n, size): n×size 바이트 할당 (0 초기화)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realloc(ptr, size): 기존 메모리 크기 변경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96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free(ptr): 할당된 메모리 해제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8152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힙 영역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프로그래머가 직접 할당/해제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런타임에 크기 결정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33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free 하지 않으면 메모리 누수 발생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15 | 동적 메모리 할당 기초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#include &lt;</a:t>
            </a:r>
            <a:r>
              <a:rPr sz="2000" dirty="0" err="1"/>
              <a:t>stdio.h</a:t>
            </a:r>
            <a:r>
              <a:rPr sz="20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#include &lt;</a:t>
            </a:r>
            <a:r>
              <a:rPr sz="2000" dirty="0" err="1"/>
              <a:t>stdlib.h</a:t>
            </a:r>
            <a:r>
              <a:rPr sz="20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 err="1"/>
              <a:t>int</a:t>
            </a:r>
            <a:r>
              <a:rPr sz="20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int</a:t>
            </a:r>
            <a:r>
              <a:rPr sz="2000" dirty="0"/>
              <a:t> *p1 = (</a:t>
            </a:r>
            <a:r>
              <a:rPr sz="2000" dirty="0" err="1"/>
              <a:t>int</a:t>
            </a:r>
            <a:r>
              <a:rPr sz="2000" dirty="0"/>
              <a:t>*)</a:t>
            </a:r>
            <a:r>
              <a:rPr sz="2000" dirty="0" err="1"/>
              <a:t>malloc</a:t>
            </a:r>
            <a:r>
              <a:rPr sz="2000" dirty="0"/>
              <a:t>(</a:t>
            </a:r>
            <a:r>
              <a:rPr sz="2000" dirty="0" err="1"/>
              <a:t>sizeof</a:t>
            </a:r>
            <a:r>
              <a:rPr sz="2000" dirty="0"/>
              <a:t>(</a:t>
            </a:r>
            <a:r>
              <a:rPr sz="2000" dirty="0" err="1"/>
              <a:t>int</a:t>
            </a:r>
            <a:r>
              <a:rPr sz="2000" dirty="0"/>
              <a:t>) * 3);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p1[0]=10; p1[1]=20; p1[2]=30;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int</a:t>
            </a:r>
            <a:r>
              <a:rPr sz="2000" dirty="0"/>
              <a:t> *p2 = (</a:t>
            </a:r>
            <a:r>
              <a:rPr sz="2000" dirty="0" err="1"/>
              <a:t>int</a:t>
            </a:r>
            <a:r>
              <a:rPr sz="2000" dirty="0"/>
              <a:t>*)</a:t>
            </a:r>
            <a:r>
              <a:rPr sz="2000" dirty="0" err="1"/>
              <a:t>calloc</a:t>
            </a:r>
            <a:r>
              <a:rPr sz="2000" dirty="0"/>
              <a:t>(3, </a:t>
            </a:r>
            <a:r>
              <a:rPr sz="2000" dirty="0" err="1"/>
              <a:t>sizeof</a:t>
            </a:r>
            <a:r>
              <a:rPr sz="2000" dirty="0"/>
              <a:t>(</a:t>
            </a:r>
            <a:r>
              <a:rPr sz="2000" dirty="0" err="1"/>
              <a:t>int</a:t>
            </a:r>
            <a:r>
              <a:rPr sz="2000" dirty="0"/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malloc</a:t>
            </a:r>
            <a:r>
              <a:rPr sz="2000" dirty="0"/>
              <a:t>: %d %d %d\n",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       p1[0], p1[1], p1[2]);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calloc</a:t>
            </a:r>
            <a:r>
              <a:rPr sz="2000" dirty="0"/>
              <a:t>: %d %d %d\n",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       p2[0], p2[1], p2[2]);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p1 = (</a:t>
            </a:r>
            <a:r>
              <a:rPr sz="2000" dirty="0" err="1"/>
              <a:t>int</a:t>
            </a:r>
            <a:r>
              <a:rPr sz="2000" dirty="0"/>
              <a:t>*)</a:t>
            </a:r>
            <a:r>
              <a:rPr sz="2000" dirty="0" err="1"/>
              <a:t>realloc</a:t>
            </a:r>
            <a:r>
              <a:rPr sz="2000" dirty="0"/>
              <a:t>(p1, </a:t>
            </a:r>
            <a:r>
              <a:rPr sz="2000" dirty="0" err="1"/>
              <a:t>sizeof</a:t>
            </a:r>
            <a:r>
              <a:rPr sz="2000" dirty="0"/>
              <a:t>(</a:t>
            </a:r>
            <a:r>
              <a:rPr sz="2000" dirty="0" err="1"/>
              <a:t>int</a:t>
            </a:r>
            <a:r>
              <a:rPr sz="2000" dirty="0"/>
              <a:t>)*5);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    p1[3]=40; p1[4]=50;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</a:t>
            </a:r>
            <a:r>
              <a:rPr sz="2000" dirty="0" err="1"/>
              <a:t>realloc</a:t>
            </a:r>
            <a:r>
              <a:rPr sz="2000" dirty="0"/>
              <a:t>: 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for(</a:t>
            </a:r>
            <a:r>
              <a:rPr sz="2000" dirty="0" err="1"/>
              <a:t>int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=0;i&lt;5;i++) </a:t>
            </a:r>
            <a:r>
              <a:rPr sz="2000" dirty="0" err="1"/>
              <a:t>printf</a:t>
            </a:r>
            <a:r>
              <a:rPr sz="2000" dirty="0"/>
              <a:t>("%d ",p1[</a:t>
            </a:r>
            <a:r>
              <a:rPr sz="2000" dirty="0" err="1"/>
              <a:t>i</a:t>
            </a:r>
            <a:r>
              <a:rPr sz="2000" dirty="0"/>
              <a:t>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</a:t>
            </a:r>
            <a:r>
              <a:rPr sz="2000" dirty="0" err="1"/>
              <a:t>printf</a:t>
            </a:r>
            <a:r>
              <a:rPr sz="2000" dirty="0"/>
              <a:t>("\n");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2000" dirty="0"/>
              <a:t>    free(p1); free(p2);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20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}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15 | 동적 메모리 할당 기초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p1 (스택)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p2 (스택)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0x00B71A60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p1[0]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(malloc)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0x00B71A44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p1[1]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(malloc)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p1[2]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(malloc)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0x00B71A60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p2[0]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(calloc)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p1(스택) → malloc 영역(힙) / p2(스택) → calloc 영역(힙, 0초기화)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1206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1206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1206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1206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1206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15 | 동적 메모리 할당 기초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malloc = 초기화 안 됨 (쓰레기 값)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calloc = 0으로 초기화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realloc = 기존 메모리 크기 변경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반드시 free()로 해제 (메모리 누수 방지)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15 핵심 포인트를 반드시 기억하세요!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동적 메모리와 포인터 활용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16 | 동적 메모리와 포인터 활용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동적 2D 배열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이중 포인터 + 이중 malloc으로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 **matrix = malloc(rows × sizeof(int*))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matrix[i] = malloc(cols × sizeof(int))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메모리 관리 주의사항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역순 free 필수: 행 먼저 → 포인터 배열 나중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free 후 포인터를 NULL로 설정 (안전)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메모리 누수 = free 하지 않은 동적 메모리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16 | 동적 메모리와 포인터 활용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#include &lt;</a:t>
            </a:r>
            <a:r>
              <a:rPr sz="1600" dirty="0" err="1"/>
              <a:t>stdio.h</a:t>
            </a:r>
            <a:r>
              <a:rPr sz="16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#include &lt;</a:t>
            </a:r>
            <a:r>
              <a:rPr sz="1600" dirty="0" err="1"/>
              <a:t>stdlib.h</a:t>
            </a:r>
            <a:r>
              <a:rPr sz="16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#include &lt;</a:t>
            </a:r>
            <a:r>
              <a:rPr sz="1600" dirty="0" err="1"/>
              <a:t>string.h</a:t>
            </a:r>
            <a:r>
              <a:rPr sz="16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 err="1"/>
              <a:t>int</a:t>
            </a:r>
            <a:r>
              <a:rPr sz="16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rows=2, cols=3;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**matrix 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    (</a:t>
            </a:r>
            <a:r>
              <a:rPr sz="1600" dirty="0" err="1"/>
              <a:t>int</a:t>
            </a:r>
            <a:r>
              <a:rPr sz="1600" dirty="0"/>
              <a:t>**)</a:t>
            </a:r>
            <a:r>
              <a:rPr sz="1600" dirty="0" err="1"/>
              <a:t>malloc</a:t>
            </a:r>
            <a:r>
              <a:rPr sz="1600" dirty="0"/>
              <a:t>(</a:t>
            </a:r>
            <a:r>
              <a:rPr sz="1600" dirty="0" err="1"/>
              <a:t>sizeof</a:t>
            </a:r>
            <a:r>
              <a:rPr sz="1600" dirty="0"/>
              <a:t>(</a:t>
            </a:r>
            <a:r>
              <a:rPr sz="1600" dirty="0" err="1"/>
              <a:t>int</a:t>
            </a:r>
            <a:r>
              <a:rPr sz="1600" dirty="0"/>
              <a:t>*)*rows);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for(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=0; </a:t>
            </a:r>
            <a:r>
              <a:rPr sz="1600" dirty="0" err="1"/>
              <a:t>i</a:t>
            </a:r>
            <a:r>
              <a:rPr sz="1600" dirty="0"/>
              <a:t>&lt;rows; </a:t>
            </a:r>
            <a:r>
              <a:rPr sz="1600" dirty="0" err="1"/>
              <a:t>i</a:t>
            </a:r>
            <a:r>
              <a:rPr sz="1600" dirty="0"/>
              <a:t>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matrix[</a:t>
            </a:r>
            <a:r>
              <a:rPr sz="1600" dirty="0" err="1"/>
              <a:t>i</a:t>
            </a:r>
            <a:r>
              <a:rPr sz="1600" dirty="0"/>
              <a:t>] 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        (</a:t>
            </a:r>
            <a:r>
              <a:rPr sz="1600" dirty="0" err="1"/>
              <a:t>int</a:t>
            </a:r>
            <a:r>
              <a:rPr sz="1600" dirty="0"/>
              <a:t>*)</a:t>
            </a:r>
            <a:r>
              <a:rPr sz="1600" dirty="0" err="1"/>
              <a:t>malloc</a:t>
            </a:r>
            <a:r>
              <a:rPr sz="1600" dirty="0"/>
              <a:t>(</a:t>
            </a:r>
            <a:r>
              <a:rPr sz="1600" dirty="0" err="1"/>
              <a:t>sizeof</a:t>
            </a:r>
            <a:r>
              <a:rPr sz="1600" dirty="0"/>
              <a:t>(</a:t>
            </a:r>
            <a:r>
              <a:rPr sz="1600" dirty="0" err="1"/>
              <a:t>int</a:t>
            </a:r>
            <a:r>
              <a:rPr sz="1600" dirty="0"/>
              <a:t>)*cols);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val</a:t>
            </a:r>
            <a:r>
              <a:rPr sz="1600" dirty="0"/>
              <a:t>=1;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for(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=0;i&lt;</a:t>
            </a:r>
            <a:r>
              <a:rPr sz="1600" dirty="0" err="1"/>
              <a:t>rows;i</a:t>
            </a:r>
            <a:r>
              <a:rPr sz="1600" dirty="0"/>
              <a:t>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for(</a:t>
            </a:r>
            <a:r>
              <a:rPr sz="1600" dirty="0" err="1"/>
              <a:t>int</a:t>
            </a:r>
            <a:r>
              <a:rPr sz="1600" dirty="0"/>
              <a:t> j=0;j&lt;</a:t>
            </a:r>
            <a:r>
              <a:rPr sz="1600" dirty="0" err="1"/>
              <a:t>cols;j</a:t>
            </a:r>
            <a:r>
              <a:rPr sz="1600" dirty="0"/>
              <a:t>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 matrix[</a:t>
            </a:r>
            <a:r>
              <a:rPr sz="1600" dirty="0" err="1"/>
              <a:t>i</a:t>
            </a:r>
            <a:r>
              <a:rPr sz="1600" dirty="0"/>
              <a:t>][j] = </a:t>
            </a:r>
            <a:r>
              <a:rPr sz="1600" dirty="0" err="1"/>
              <a:t>val</a:t>
            </a:r>
            <a:r>
              <a:rPr sz="1600" dirty="0"/>
              <a:t>++;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("2D </a:t>
            </a:r>
            <a:r>
              <a:rPr sz="1600" dirty="0" err="1"/>
              <a:t>행렬</a:t>
            </a:r>
            <a:r>
              <a:rPr sz="1600" dirty="0"/>
              <a:t>:\n");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for(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=0;i&lt;</a:t>
            </a:r>
            <a:r>
              <a:rPr sz="1600" dirty="0" err="1"/>
              <a:t>rows;i</a:t>
            </a:r>
            <a:r>
              <a:rPr sz="1600" dirty="0"/>
              <a:t>++){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for(</a:t>
            </a:r>
            <a:r>
              <a:rPr sz="1600" dirty="0" err="1"/>
              <a:t>int</a:t>
            </a:r>
            <a:r>
              <a:rPr sz="1600" dirty="0"/>
              <a:t> j=0;j&lt;</a:t>
            </a:r>
            <a:r>
              <a:rPr sz="1600" dirty="0" err="1"/>
              <a:t>cols;j</a:t>
            </a:r>
            <a:r>
              <a:rPr sz="1600" dirty="0"/>
              <a:t>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        </a:t>
            </a:r>
            <a:r>
              <a:rPr sz="1600" dirty="0" err="1"/>
              <a:t>printf</a:t>
            </a:r>
            <a:r>
              <a:rPr sz="1600" dirty="0"/>
              <a:t>("%d ", matrix[</a:t>
            </a:r>
            <a:r>
              <a:rPr sz="1600" dirty="0" err="1"/>
              <a:t>i</a:t>
            </a:r>
            <a:r>
              <a:rPr sz="1600" dirty="0"/>
              <a:t>][j]);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    </a:t>
            </a:r>
            <a:r>
              <a:rPr sz="1600" dirty="0" err="1"/>
              <a:t>printf</a:t>
            </a:r>
            <a:r>
              <a:rPr sz="1600" dirty="0"/>
              <a:t>("\n");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for(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=0;i&lt;</a:t>
            </a:r>
            <a:r>
              <a:rPr sz="1600" dirty="0" err="1"/>
              <a:t>rows;i</a:t>
            </a:r>
            <a:r>
              <a:rPr sz="1600" dirty="0"/>
              <a:t>++) free(matrix[</a:t>
            </a:r>
            <a:r>
              <a:rPr sz="1600" dirty="0" err="1"/>
              <a:t>i</a:t>
            </a:r>
            <a:r>
              <a:rPr sz="1600" dirty="0"/>
              <a:t>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free(matrix);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16 | 동적 메모리와 포인터 활용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matrix (스택)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matrix[0]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0x00B71A60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matrix[1]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0x00B71A80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0x00B71A60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[0][0],[0][1],[0][2]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1, 2, 3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int[3]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0x00B71A80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[1][0],[1][1],[1][2]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4, 5, 6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int[3]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matrix(스택) → int* 배열(힙) → 각 행 int 배열(힙) : 3단계 참조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6634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46634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6634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6634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6634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4645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16 | 동적 메모리와 포인터 활용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2D 동적 배열 = 이중 포인터 + 이중 malloc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역순 free 필수 (행 먼저 → 포인터 배열 나중)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메모리 누수 주의: 모든 malloc에 대응하는 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free 후 포인터를 NULL로 설정하면 안전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16 핵심 포인트를 반드시 기억하세요!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이중 포인터 (더블 포인터)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17 | 이중 포인터 (더블 포인터)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이중 포인터란?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 **pp = 포인터의 주소를 저장하는 변수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3단계 참조: pp → p → 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**pp로 원본 값에 접근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이중 포인터의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함수에서 포인터 자체를 변경할 때 필수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동적 할당 함수: void alloc(int **pp)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2D 배열의 동적 할당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17 | 이중 포인터 (더블 포인터)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#include &lt;</a:t>
            </a:r>
            <a:r>
              <a:rPr sz="1600" dirty="0" err="1"/>
              <a:t>stdio.h</a:t>
            </a:r>
            <a:r>
              <a:rPr sz="16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#include &lt;</a:t>
            </a:r>
            <a:r>
              <a:rPr sz="1600" dirty="0" err="1"/>
              <a:t>stdlib.h</a:t>
            </a:r>
            <a:r>
              <a:rPr sz="16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void allocate(</a:t>
            </a:r>
            <a:r>
              <a:rPr sz="1600" dirty="0" err="1"/>
              <a:t>int</a:t>
            </a:r>
            <a:r>
              <a:rPr sz="1600" dirty="0"/>
              <a:t> **pp, </a:t>
            </a:r>
            <a:r>
              <a:rPr sz="1600" dirty="0" err="1"/>
              <a:t>int</a:t>
            </a:r>
            <a:r>
              <a:rPr sz="1600" dirty="0"/>
              <a:t> value)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*pp = (</a:t>
            </a:r>
            <a:r>
              <a:rPr sz="1600" dirty="0" err="1"/>
              <a:t>int</a:t>
            </a:r>
            <a:r>
              <a:rPr sz="1600" dirty="0"/>
              <a:t>*)</a:t>
            </a:r>
            <a:r>
              <a:rPr sz="1600" dirty="0" err="1"/>
              <a:t>malloc</a:t>
            </a:r>
            <a:r>
              <a:rPr sz="1600" dirty="0"/>
              <a:t>(</a:t>
            </a:r>
            <a:r>
              <a:rPr sz="1600" dirty="0" err="1"/>
              <a:t>sizeof</a:t>
            </a:r>
            <a:r>
              <a:rPr sz="1600" dirty="0"/>
              <a:t>(</a:t>
            </a:r>
            <a:r>
              <a:rPr sz="1600" dirty="0" err="1"/>
              <a:t>int</a:t>
            </a:r>
            <a:r>
              <a:rPr sz="1600" dirty="0"/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**pp = value;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 err="1"/>
              <a:t>int</a:t>
            </a:r>
            <a:r>
              <a:rPr sz="16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a = 10;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*p = &amp;a;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**pp = &amp;p;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("a = %d\n", a);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("*p = %d\n", *p);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("**pp = %d\n", **pp);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("\</a:t>
            </a:r>
            <a:r>
              <a:rPr sz="1600" dirty="0" err="1"/>
              <a:t>n주소</a:t>
            </a:r>
            <a:r>
              <a:rPr sz="1600" dirty="0"/>
              <a:t> </a:t>
            </a:r>
            <a:r>
              <a:rPr sz="1600" dirty="0" err="1"/>
              <a:t>관계</a:t>
            </a:r>
            <a:r>
              <a:rPr sz="1600" dirty="0"/>
              <a:t>:\n");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("&amp;a  = %p\n", &amp;a);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("p   = %p\n", 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("&amp;p  = %p\n", &amp;p);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("pp  = %p\n", pp);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*dynamic = NULL;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allocate(&amp;dynamic, 42);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("\</a:t>
            </a:r>
            <a:r>
              <a:rPr sz="1600" dirty="0" err="1"/>
              <a:t>n동적</a:t>
            </a:r>
            <a:r>
              <a:rPr sz="1600" dirty="0"/>
              <a:t> </a:t>
            </a:r>
            <a:r>
              <a:rPr sz="1600" dirty="0" err="1"/>
              <a:t>할당</a:t>
            </a:r>
            <a:r>
              <a:rPr sz="1600" dirty="0"/>
              <a:t>: %d\n", *dynamic);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free(dynamic);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}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17 | 이중 포인터 (더블 포인터)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pp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pp(0x7FFE0030) → p(0x7FFE0028) → a(0x7FFE0020) : 3단계 참조 체인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3749039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3749039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749039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749039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749039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17 | 이중 포인터 (더블 포인터)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이중 포인터 = 포인터의 포인터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**pp로 원본 값에 접근 (3단계 참조)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함수에서 포인터 자체를 변경할 때 필수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동적 할당 함수 패턴: void alloc(int **pp)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17 핵심 포인트를 반드시 기억하세요!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포인터 배열과 배열 포인터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18 | 포인터 배열과 배열 포인터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포인터 배열: int *arr[3]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포인터 3개를 담는 배열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sizeof = 3 × 8 = 24바이트 (64비트)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각 요소가 서로 다른 변수를 가리킬 수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배열 포인터: int (*arr)[3]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크기 3인 int 배열을 가리키는 포인터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sizeof = 8바이트 (포인터 1개)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2D 배열 접근에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33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+1 시 배열 크기(12B)만큼 이동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18 | 포인터 배열과 배열 포인터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#include &lt;</a:t>
            </a:r>
            <a:r>
              <a:rPr sz="1600" dirty="0" err="1"/>
              <a:t>stdio.h</a:t>
            </a:r>
            <a:r>
              <a:rPr sz="16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 dirty="0" err="1"/>
              <a:t>int</a:t>
            </a:r>
            <a:r>
              <a:rPr sz="16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a=10, b=20, c=30;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*</a:t>
            </a:r>
            <a:r>
              <a:rPr sz="1600" dirty="0" err="1"/>
              <a:t>pArr</a:t>
            </a:r>
            <a:r>
              <a:rPr sz="1600" dirty="0"/>
              <a:t>[3] = {&amp;a, &amp;b, &amp;c};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("=== </a:t>
            </a:r>
            <a:r>
              <a:rPr sz="1600" dirty="0" err="1"/>
              <a:t>포인터</a:t>
            </a:r>
            <a:r>
              <a:rPr sz="1600" dirty="0"/>
              <a:t> </a:t>
            </a:r>
            <a:r>
              <a:rPr sz="1600" dirty="0" err="1"/>
              <a:t>배열</a:t>
            </a:r>
            <a:r>
              <a:rPr sz="1600" dirty="0"/>
              <a:t> </a:t>
            </a:r>
            <a:r>
              <a:rPr sz="1600" dirty="0" err="1"/>
              <a:t>int</a:t>
            </a:r>
            <a:r>
              <a:rPr sz="1600" dirty="0"/>
              <a:t> *</a:t>
            </a:r>
            <a:r>
              <a:rPr sz="1600" dirty="0" err="1"/>
              <a:t>pArr</a:t>
            </a:r>
            <a:r>
              <a:rPr sz="1600" dirty="0"/>
              <a:t>[3] ===\n");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for(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=0;i&lt;3;i++)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    </a:t>
            </a:r>
            <a:r>
              <a:rPr sz="1600" dirty="0" err="1"/>
              <a:t>printf</a:t>
            </a:r>
            <a:r>
              <a:rPr sz="1600" dirty="0"/>
              <a:t>("</a:t>
            </a:r>
            <a:r>
              <a:rPr sz="1600" dirty="0" err="1"/>
              <a:t>pArr</a:t>
            </a:r>
            <a:r>
              <a:rPr sz="1600" dirty="0"/>
              <a:t>[%d] = %p -&gt; %d\n",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    </a:t>
            </a:r>
            <a:r>
              <a:rPr sz="1600" dirty="0" err="1"/>
              <a:t>i</a:t>
            </a:r>
            <a:r>
              <a:rPr sz="1600" dirty="0"/>
              <a:t>, </a:t>
            </a:r>
            <a:r>
              <a:rPr sz="1600" dirty="0" err="1"/>
              <a:t>pArr</a:t>
            </a:r>
            <a:r>
              <a:rPr sz="1600" dirty="0"/>
              <a:t>[</a:t>
            </a:r>
            <a:r>
              <a:rPr sz="1600" dirty="0" err="1"/>
              <a:t>i</a:t>
            </a:r>
            <a:r>
              <a:rPr sz="1600" dirty="0"/>
              <a:t>], *</a:t>
            </a:r>
            <a:r>
              <a:rPr sz="1600" dirty="0" err="1"/>
              <a:t>pArr</a:t>
            </a:r>
            <a:r>
              <a:rPr sz="1600" dirty="0"/>
              <a:t>[</a:t>
            </a:r>
            <a:r>
              <a:rPr sz="1600" dirty="0" err="1"/>
              <a:t>i</a:t>
            </a:r>
            <a:r>
              <a:rPr sz="1600" dirty="0"/>
              <a:t>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matrix[2][3] = {{1,2,3},{4,5,6}};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int</a:t>
            </a:r>
            <a:r>
              <a:rPr sz="1600" dirty="0"/>
              <a:t> (*</a:t>
            </a:r>
            <a:r>
              <a:rPr sz="1600" dirty="0" err="1"/>
              <a:t>rowPtr</a:t>
            </a:r>
            <a:r>
              <a:rPr sz="1600" dirty="0"/>
              <a:t>)[3] = matrix;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("\n=== </a:t>
            </a:r>
            <a:r>
              <a:rPr sz="1600" dirty="0" err="1"/>
              <a:t>배열</a:t>
            </a:r>
            <a:r>
              <a:rPr sz="1600" dirty="0"/>
              <a:t> </a:t>
            </a:r>
            <a:r>
              <a:rPr sz="1600" dirty="0" err="1"/>
              <a:t>포인터</a:t>
            </a:r>
            <a:r>
              <a:rPr sz="1600" dirty="0"/>
              <a:t> </a:t>
            </a:r>
            <a:r>
              <a:rPr sz="1600" dirty="0" err="1"/>
              <a:t>int</a:t>
            </a:r>
            <a:r>
              <a:rPr sz="1600" dirty="0"/>
              <a:t> (*</a:t>
            </a:r>
            <a:r>
              <a:rPr sz="1600" dirty="0" err="1"/>
              <a:t>rowPtr</a:t>
            </a:r>
            <a:r>
              <a:rPr sz="1600" dirty="0"/>
              <a:t>)[3]"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" ===\n");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for(</a:t>
            </a:r>
            <a:r>
              <a:rPr sz="1600" dirty="0" err="1"/>
              <a:t>int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=0;i&lt;2;i++)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for(</a:t>
            </a:r>
            <a:r>
              <a:rPr sz="1600" dirty="0" err="1"/>
              <a:t>int</a:t>
            </a:r>
            <a:r>
              <a:rPr sz="1600" dirty="0"/>
              <a:t> j=0;j&lt;3;j++)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        </a:t>
            </a:r>
            <a:r>
              <a:rPr sz="1600" dirty="0" err="1"/>
              <a:t>printf</a:t>
            </a:r>
            <a:r>
              <a:rPr sz="1600" dirty="0"/>
              <a:t>("</a:t>
            </a:r>
            <a:r>
              <a:rPr sz="1600" dirty="0" err="1"/>
              <a:t>rowPtr</a:t>
            </a:r>
            <a:r>
              <a:rPr sz="1600" dirty="0"/>
              <a:t>[%d][%d] = %d\n",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        </a:t>
            </a:r>
            <a:r>
              <a:rPr sz="1600" dirty="0" err="1"/>
              <a:t>i</a:t>
            </a:r>
            <a:r>
              <a:rPr sz="1600" dirty="0"/>
              <a:t>, j, </a:t>
            </a:r>
            <a:r>
              <a:rPr sz="1600" dirty="0" err="1"/>
              <a:t>rowPtr</a:t>
            </a:r>
            <a:r>
              <a:rPr sz="1600" dirty="0"/>
              <a:t>[</a:t>
            </a:r>
            <a:r>
              <a:rPr sz="1600" dirty="0" err="1"/>
              <a:t>i</a:t>
            </a:r>
            <a:r>
              <a:rPr sz="1600" dirty="0"/>
              <a:t>][j]);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("\</a:t>
            </a:r>
            <a:r>
              <a:rPr sz="1600" dirty="0" err="1"/>
              <a:t>nsizeof</a:t>
            </a:r>
            <a:r>
              <a:rPr sz="1600" dirty="0"/>
              <a:t>(</a:t>
            </a:r>
            <a:r>
              <a:rPr sz="1600" dirty="0" err="1"/>
              <a:t>pArr</a:t>
            </a:r>
            <a:r>
              <a:rPr sz="1600" dirty="0"/>
              <a:t>)=%</a:t>
            </a:r>
            <a:r>
              <a:rPr sz="1600" dirty="0" err="1"/>
              <a:t>zu</a:t>
            </a:r>
            <a:r>
              <a:rPr sz="1600" dirty="0"/>
              <a:t>, 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"</a:t>
            </a:r>
            <a:r>
              <a:rPr sz="1600" dirty="0" err="1"/>
              <a:t>sizeof</a:t>
            </a:r>
            <a:r>
              <a:rPr sz="1600" dirty="0"/>
              <a:t>(</a:t>
            </a:r>
            <a:r>
              <a:rPr sz="1600" dirty="0" err="1"/>
              <a:t>rowPtr</a:t>
            </a:r>
            <a:r>
              <a:rPr sz="1600" dirty="0"/>
              <a:t>)=%</a:t>
            </a:r>
            <a:r>
              <a:rPr sz="1600" dirty="0" err="1"/>
              <a:t>zu</a:t>
            </a:r>
            <a:r>
              <a:rPr sz="1600" dirty="0"/>
              <a:t>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       </a:t>
            </a:r>
            <a:r>
              <a:rPr sz="1600" dirty="0" err="1"/>
              <a:t>sizeof</a:t>
            </a:r>
            <a:r>
              <a:rPr sz="1600" dirty="0"/>
              <a:t>(</a:t>
            </a:r>
            <a:r>
              <a:rPr sz="1600" dirty="0" err="1"/>
              <a:t>pArr</a:t>
            </a:r>
            <a:r>
              <a:rPr sz="1600" dirty="0"/>
              <a:t>), </a:t>
            </a:r>
            <a:r>
              <a:rPr sz="1600" dirty="0" err="1"/>
              <a:t>sizeof</a:t>
            </a:r>
            <a:r>
              <a:rPr sz="1600" dirty="0"/>
              <a:t>(</a:t>
            </a:r>
            <a:r>
              <a:rPr sz="1600" dirty="0" err="1"/>
              <a:t>rowPtr</a:t>
            </a:r>
            <a:r>
              <a:rPr sz="1600" dirty="0"/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16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}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18 | 포인터 배열과 배열 포인터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(4B)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pArr[0]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a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pArr[1]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b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pArr[2]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c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0x7FFE0050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rowPtr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matrix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int(*)[3] (8B)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0292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포인터 배열: pArr[0]→a, pArr[1]→b, pArr[2]→c / 배열 포인터: rowPtr→matrix 전체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5778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5778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5778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5778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5778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18 | 포인터 배열과 배열 포인터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int *arr[3] = 포인터 3개의 배열 (24B)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int (*arr)[3] = 크기3 배열을 가리키는 포인터 (8B)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괄호 유무가 의미를 완전히 바꿈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배열 포인터는 2D 배열 접근에 활용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18 핵심 포인트를 반드시 기억하세요!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함수 포인터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19 | 함수 포인터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함수 포인터란?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함수도 메모리에 주소를 가짐 (코드 영역)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함수명 = 함수의 시작 주소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 (*fp)(int, int) = add; 형태로 선언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활용 패턴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콜백(Callback) 패턴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함수 포인터 배열로 전략 패턴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typedef로 가독성 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33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qsort, signal 등 표준 라이브러리 활용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19 | 함수 포인터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1600"/>
              <a:t>#include &lt;stdio.h&gt;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/>
              <a:t>int add(int a, int b) { return a+b;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/>
              <a:t>int sub(int a, int b) { return a-b;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/>
              <a:t>int mul(int a, int b) { return a*b;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/>
              <a:t>void calculate(int x, int y,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/>
              <a:t>    int (*op)(int,int), const char *name)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/>
              <a:t>    printf("%s(%d, %d) = %d\n",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/>
              <a:t>           name, x, y, op(x,y));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/>
              <a:t>int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/>
              <a:t>    int (*fp)(int, int);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/>
              <a:t>    fp = add;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DE047"/>
                </a:solidFill>
                <a:latin typeface="Consolas"/>
              </a:defRPr>
            </a:pPr>
            <a:r>
              <a:rPr sz="1600"/>
              <a:t>    printf("fp(3,4) = %d\n", fp(3,4));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/>
              <a:t>    typedef int (*Operation)(int, int);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/>
              <a:t>    Operation ops[] = {add, sub, mul};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2D3EE"/>
                </a:solidFill>
                <a:latin typeface="Consolas"/>
              </a:defRPr>
            </a:pPr>
            <a:r>
              <a:rPr sz="1600"/>
              <a:t>    const char *names[] = {"add","sub","mul"};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/>
              <a:t>    for(int i=0;i&lt;3;i++)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/>
              <a:t>        calculate(10, 3, ops[i], names[i]);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B923C"/>
                </a:solidFill>
                <a:latin typeface="Consolas"/>
              </a:defRPr>
            </a:pPr>
            <a:r>
              <a:rPr sz="160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rPr sz="1600"/>
              <a:t>}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19 | 함수 포인터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0x00401130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add()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(함수코드)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0x00401160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sub()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(함수코드)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0x00401190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mul()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(함수코드)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0x7FFE0028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fp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0x00401130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int(*)(int,int)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ops[0]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0x00401130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ops[1]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0x00401160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ops[2]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0x00401190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0292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fp → add() / ops[0]→add, ops[1]→sub, ops[2]→mul : 함수 포인터가 코드 영역을 가리킴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5778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5778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5778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5778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5778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559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19 | 함수 포인터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함수명 = 함수의 시작 주소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함수 포인터로 간접 호출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typedef로 가독성 향상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콜백 패턴과 전략 패턴 구현에 활용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19 핵심 포인트를 반드시 기억하세요!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onsolas"/>
              </a:defRPr>
            </a:pPr>
            <a:r>
              <a:t>LECTURE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포인터 함수 vs 함수 포인터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C언어 포인터 완전정복 - 64비트 시스템 기반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20 | 포인터 함수 vs 함수 포인터 비교 -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포인터 함수 (Pointer-returning Function)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int* func() : 포인터를 반환하는 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01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함수가 동적 할당 주소 등을 반환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94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호출자가 반환된 포인터의 메모리 관리 책임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340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Malgun Gothic"/>
              </a:defRPr>
            </a:pPr>
            <a:r>
              <a:t>■ 함수 포인터 (Function Pointer)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int (*func)() : 함수를 가리키는 포인터 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괄호가 핵심 차이: (*func)의 괄호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콜백, 전략 패턴, 함수 배열에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33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• typedef로 가독성 향상 권장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algun Gothic"/>
              </a:defRPr>
            </a:pPr>
            <a:r>
              <a:t>Lecture 20 | 포인터 함수 vs 함수 포인터 비교 - 코드 예제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77295" cy="182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B923C"/>
                </a:solidFill>
                <a:latin typeface="Consolas"/>
              </a:defRPr>
            </a:pPr>
            <a:r>
              <a:rPr sz="1200" dirty="0"/>
              <a:t>#include &lt;</a:t>
            </a:r>
            <a:r>
              <a:rPr sz="1200" dirty="0" err="1"/>
              <a:t>stdio.h</a:t>
            </a:r>
            <a:r>
              <a:rPr sz="12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B923C"/>
                </a:solidFill>
                <a:latin typeface="Consolas"/>
              </a:defRPr>
            </a:pPr>
            <a:r>
              <a:rPr sz="1200" dirty="0"/>
              <a:t>#include &lt;</a:t>
            </a:r>
            <a:r>
              <a:rPr sz="1200" dirty="0" err="1"/>
              <a:t>stdlib.h</a:t>
            </a:r>
            <a:r>
              <a:rPr sz="1200" dirty="0"/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6A9955"/>
                </a:solidFill>
                <a:latin typeface="Consolas"/>
              </a:defRPr>
            </a:pPr>
            <a:r>
              <a:rPr sz="1200" dirty="0"/>
              <a:t>// 1. </a:t>
            </a:r>
            <a:r>
              <a:rPr sz="1200" dirty="0" err="1"/>
              <a:t>포인터</a:t>
            </a:r>
            <a:r>
              <a:rPr sz="1200" dirty="0"/>
              <a:t> </a:t>
            </a:r>
            <a:r>
              <a:rPr sz="1200" dirty="0" err="1"/>
              <a:t>함수</a:t>
            </a:r>
            <a:r>
              <a:rPr sz="1200" dirty="0"/>
              <a:t>: </a:t>
            </a:r>
            <a:r>
              <a:rPr sz="1200" dirty="0" err="1"/>
              <a:t>포인터를</a:t>
            </a:r>
            <a:r>
              <a:rPr sz="1200" dirty="0"/>
              <a:t> </a:t>
            </a:r>
            <a:r>
              <a:rPr sz="1200" dirty="0" err="1"/>
              <a:t>반환하는</a:t>
            </a:r>
            <a:r>
              <a:rPr sz="1200" dirty="0"/>
              <a:t> </a:t>
            </a:r>
            <a:r>
              <a:rPr sz="1200" dirty="0" err="1"/>
              <a:t>함수</a:t>
            </a:r>
            <a:endParaRPr sz="1200" dirty="0"/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200" dirty="0" err="1"/>
              <a:t>int</a:t>
            </a:r>
            <a:r>
              <a:rPr sz="1200" dirty="0"/>
              <a:t>* </a:t>
            </a:r>
            <a:r>
              <a:rPr sz="1200" dirty="0" err="1"/>
              <a:t>createValue</a:t>
            </a:r>
            <a:r>
              <a:rPr sz="1200" dirty="0"/>
              <a:t>(</a:t>
            </a:r>
            <a:r>
              <a:rPr sz="1200" dirty="0" err="1"/>
              <a:t>int</a:t>
            </a:r>
            <a:r>
              <a:rPr sz="1200" dirty="0"/>
              <a:t> </a:t>
            </a:r>
            <a:r>
              <a:rPr sz="1200" dirty="0" err="1"/>
              <a:t>val</a:t>
            </a:r>
            <a:r>
              <a:rPr sz="1200" dirty="0"/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int</a:t>
            </a:r>
            <a:r>
              <a:rPr sz="1200" dirty="0"/>
              <a:t> *p = (</a:t>
            </a:r>
            <a:r>
              <a:rPr sz="1200" dirty="0" err="1"/>
              <a:t>int</a:t>
            </a:r>
            <a:r>
              <a:rPr sz="1200" dirty="0"/>
              <a:t>*)</a:t>
            </a:r>
            <a:r>
              <a:rPr sz="1200" dirty="0" err="1"/>
              <a:t>malloc</a:t>
            </a:r>
            <a:r>
              <a:rPr sz="1200" dirty="0"/>
              <a:t>(</a:t>
            </a:r>
            <a:r>
              <a:rPr sz="1200" dirty="0" err="1"/>
              <a:t>sizeof</a:t>
            </a:r>
            <a:r>
              <a:rPr sz="1200" dirty="0"/>
              <a:t>(</a:t>
            </a:r>
            <a:r>
              <a:rPr sz="1200" dirty="0" err="1"/>
              <a:t>int</a:t>
            </a:r>
            <a:r>
              <a:rPr sz="1200" dirty="0"/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200" dirty="0"/>
              <a:t>    *p = </a:t>
            </a:r>
            <a:r>
              <a:rPr sz="1200" dirty="0" err="1"/>
              <a:t>val</a:t>
            </a:r>
            <a:r>
              <a:rPr sz="12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B923C"/>
                </a:solidFill>
                <a:latin typeface="Consolas"/>
              </a:defRPr>
            </a:pPr>
            <a:r>
              <a:rPr sz="1200" dirty="0"/>
              <a:t>    return 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200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6A9955"/>
                </a:solidFill>
                <a:latin typeface="Consolas"/>
              </a:defRPr>
            </a:pPr>
            <a:r>
              <a:rPr sz="1200" dirty="0"/>
              <a:t>// 2. </a:t>
            </a:r>
            <a:r>
              <a:rPr sz="1200" dirty="0" err="1"/>
              <a:t>함수</a:t>
            </a:r>
            <a:r>
              <a:rPr sz="1200" dirty="0"/>
              <a:t> </a:t>
            </a:r>
            <a:r>
              <a:rPr sz="1200" dirty="0" err="1"/>
              <a:t>포인터</a:t>
            </a:r>
            <a:r>
              <a:rPr sz="1200" dirty="0"/>
              <a:t>: </a:t>
            </a:r>
            <a:r>
              <a:rPr sz="1200" dirty="0" err="1"/>
              <a:t>함수를</a:t>
            </a:r>
            <a:r>
              <a:rPr sz="1200" dirty="0"/>
              <a:t> </a:t>
            </a:r>
            <a:r>
              <a:rPr sz="1200" dirty="0" err="1"/>
              <a:t>가리키는</a:t>
            </a:r>
            <a:r>
              <a:rPr sz="1200" dirty="0"/>
              <a:t> </a:t>
            </a:r>
            <a:r>
              <a:rPr sz="1200" dirty="0" err="1"/>
              <a:t>포인터</a:t>
            </a:r>
            <a:endParaRPr sz="1200" dirty="0"/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1200" dirty="0" err="1"/>
              <a:t>int</a:t>
            </a:r>
            <a:r>
              <a:rPr sz="1200" dirty="0"/>
              <a:t> add(</a:t>
            </a:r>
            <a:r>
              <a:rPr sz="1200" dirty="0" err="1"/>
              <a:t>int</a:t>
            </a:r>
            <a:r>
              <a:rPr sz="1200" dirty="0"/>
              <a:t> a, </a:t>
            </a:r>
            <a:r>
              <a:rPr sz="1200" dirty="0" err="1"/>
              <a:t>int</a:t>
            </a:r>
            <a:r>
              <a:rPr sz="1200" dirty="0"/>
              <a:t> b) { return </a:t>
            </a:r>
            <a:r>
              <a:rPr sz="1200" dirty="0" err="1"/>
              <a:t>a+b</a:t>
            </a:r>
            <a:r>
              <a:rPr sz="1200" dirty="0"/>
              <a:t>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1200" dirty="0" err="1"/>
              <a:t>int</a:t>
            </a:r>
            <a:r>
              <a:rPr sz="1200" dirty="0"/>
              <a:t> sub(</a:t>
            </a:r>
            <a:r>
              <a:rPr sz="1200" dirty="0" err="1"/>
              <a:t>int</a:t>
            </a:r>
            <a:r>
              <a:rPr sz="1200" dirty="0"/>
              <a:t> a, </a:t>
            </a:r>
            <a:r>
              <a:rPr sz="1200" dirty="0" err="1"/>
              <a:t>int</a:t>
            </a:r>
            <a:r>
              <a:rPr sz="1200" dirty="0"/>
              <a:t> b) { return a-b;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1200" dirty="0" err="1"/>
              <a:t>int</a:t>
            </a:r>
            <a:r>
              <a:rPr sz="1200" dirty="0"/>
              <a:t> main()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6A9955"/>
                </a:solidFill>
                <a:latin typeface="Consolas"/>
              </a:defRPr>
            </a:pPr>
            <a:r>
              <a:rPr sz="1200" dirty="0"/>
              <a:t>    // </a:t>
            </a:r>
            <a:r>
              <a:rPr sz="1200" dirty="0" err="1"/>
              <a:t>포인터</a:t>
            </a:r>
            <a:r>
              <a:rPr sz="1200" dirty="0"/>
              <a:t> </a:t>
            </a:r>
            <a:r>
              <a:rPr sz="1200" dirty="0" err="1"/>
              <a:t>함수</a:t>
            </a:r>
            <a:r>
              <a:rPr sz="1200" dirty="0"/>
              <a:t> </a:t>
            </a:r>
            <a:r>
              <a:rPr sz="1200" dirty="0" err="1"/>
              <a:t>사용</a:t>
            </a:r>
            <a:endParaRPr sz="1200" dirty="0"/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int</a:t>
            </a:r>
            <a:r>
              <a:rPr sz="1200" dirty="0"/>
              <a:t> *result = </a:t>
            </a:r>
            <a:r>
              <a:rPr sz="1200" dirty="0" err="1"/>
              <a:t>createValue</a:t>
            </a:r>
            <a:r>
              <a:rPr sz="1200" dirty="0"/>
              <a:t>(42);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printf</a:t>
            </a:r>
            <a:r>
              <a:rPr sz="1200" dirty="0"/>
              <a:t>("</a:t>
            </a:r>
            <a:r>
              <a:rPr sz="1200" dirty="0" err="1"/>
              <a:t>포인터</a:t>
            </a:r>
            <a:r>
              <a:rPr sz="1200" dirty="0"/>
              <a:t> </a:t>
            </a:r>
            <a:r>
              <a:rPr sz="1200" dirty="0" err="1"/>
              <a:t>함수</a:t>
            </a:r>
            <a:r>
              <a:rPr sz="1200" dirty="0"/>
              <a:t> </a:t>
            </a:r>
            <a:r>
              <a:rPr sz="1200" dirty="0" err="1"/>
              <a:t>결과</a:t>
            </a:r>
            <a:r>
              <a:rPr sz="1200" dirty="0"/>
              <a:t>: %d\n", *result);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1200" dirty="0"/>
              <a:t>    free(result);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6A9955"/>
                </a:solidFill>
                <a:latin typeface="Consolas"/>
              </a:defRPr>
            </a:pPr>
            <a:r>
              <a:rPr sz="1200" dirty="0"/>
              <a:t>    // </a:t>
            </a:r>
            <a:r>
              <a:rPr sz="1200" dirty="0" err="1"/>
              <a:t>함수</a:t>
            </a:r>
            <a:r>
              <a:rPr sz="1200" dirty="0"/>
              <a:t> </a:t>
            </a:r>
            <a:r>
              <a:rPr sz="1200" dirty="0" err="1"/>
              <a:t>포인터</a:t>
            </a:r>
            <a:r>
              <a:rPr sz="1200" dirty="0"/>
              <a:t> </a:t>
            </a:r>
            <a:r>
              <a:rPr sz="1200" dirty="0" err="1"/>
              <a:t>사용</a:t>
            </a:r>
            <a:endParaRPr sz="1200" dirty="0"/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int</a:t>
            </a:r>
            <a:r>
              <a:rPr sz="1200" dirty="0"/>
              <a:t> (*op)(</a:t>
            </a:r>
            <a:r>
              <a:rPr sz="1200" dirty="0" err="1"/>
              <a:t>int</a:t>
            </a:r>
            <a:r>
              <a:rPr sz="1200" dirty="0"/>
              <a:t>, </a:t>
            </a:r>
            <a:r>
              <a:rPr sz="1200" dirty="0" err="1"/>
              <a:t>int</a:t>
            </a:r>
            <a:r>
              <a:rPr sz="1200" dirty="0"/>
              <a:t>) = add;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printf</a:t>
            </a:r>
            <a:r>
              <a:rPr sz="1200" dirty="0"/>
              <a:t>("</a:t>
            </a:r>
            <a:r>
              <a:rPr sz="1200" dirty="0" err="1"/>
              <a:t>함수</a:t>
            </a:r>
            <a:r>
              <a:rPr sz="1200" dirty="0"/>
              <a:t> </a:t>
            </a:r>
            <a:r>
              <a:rPr sz="1200" dirty="0" err="1"/>
              <a:t>포인터</a:t>
            </a:r>
            <a:r>
              <a:rPr sz="1200" dirty="0"/>
              <a:t>(add): %d\n", op(10, 3));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200" dirty="0"/>
              <a:t>    op = sub;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printf</a:t>
            </a:r>
            <a:r>
              <a:rPr sz="1200" dirty="0"/>
              <a:t>("</a:t>
            </a:r>
            <a:r>
              <a:rPr sz="1200" dirty="0" err="1"/>
              <a:t>함수</a:t>
            </a:r>
            <a:r>
              <a:rPr sz="1200" dirty="0"/>
              <a:t> </a:t>
            </a:r>
            <a:r>
              <a:rPr sz="1200" dirty="0" err="1"/>
              <a:t>포인터</a:t>
            </a:r>
            <a:r>
              <a:rPr sz="1200" dirty="0"/>
              <a:t>(sub): %d\n", op(10, 3));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6A9955"/>
                </a:solidFill>
                <a:latin typeface="Consolas"/>
              </a:defRPr>
            </a:pPr>
            <a:r>
              <a:rPr sz="1200" dirty="0"/>
              <a:t>    // </a:t>
            </a:r>
            <a:r>
              <a:rPr sz="1200" dirty="0" err="1"/>
              <a:t>함수</a:t>
            </a:r>
            <a:r>
              <a:rPr sz="1200" dirty="0"/>
              <a:t> </a:t>
            </a:r>
            <a:r>
              <a:rPr sz="1200" dirty="0" err="1"/>
              <a:t>포인터</a:t>
            </a:r>
            <a:r>
              <a:rPr sz="1200" dirty="0"/>
              <a:t> </a:t>
            </a:r>
            <a:r>
              <a:rPr sz="1200" dirty="0" err="1"/>
              <a:t>배열</a:t>
            </a:r>
            <a:endParaRPr sz="1200" dirty="0"/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D3EE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typedef</a:t>
            </a:r>
            <a:r>
              <a:rPr sz="1200" dirty="0"/>
              <a:t> </a:t>
            </a:r>
            <a:r>
              <a:rPr sz="1200" dirty="0" err="1"/>
              <a:t>int</a:t>
            </a:r>
            <a:r>
              <a:rPr sz="1200" dirty="0"/>
              <a:t> (*</a:t>
            </a:r>
            <a:r>
              <a:rPr sz="1200" dirty="0" err="1"/>
              <a:t>CalcFunc</a:t>
            </a:r>
            <a:r>
              <a:rPr sz="1200" dirty="0"/>
              <a:t>)(</a:t>
            </a:r>
            <a:r>
              <a:rPr sz="1200" dirty="0" err="1"/>
              <a:t>int</a:t>
            </a:r>
            <a:r>
              <a:rPr sz="1200" dirty="0"/>
              <a:t>, </a:t>
            </a:r>
            <a:r>
              <a:rPr sz="1200" dirty="0" err="1"/>
              <a:t>int</a:t>
            </a:r>
            <a:r>
              <a:rPr sz="12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200" dirty="0"/>
              <a:t>    </a:t>
            </a:r>
            <a:r>
              <a:rPr sz="1200" dirty="0" err="1"/>
              <a:t>CalcFunc</a:t>
            </a:r>
            <a:r>
              <a:rPr sz="1200" dirty="0"/>
              <a:t> </a:t>
            </a:r>
            <a:r>
              <a:rPr sz="1200" dirty="0" err="1"/>
              <a:t>funcs</a:t>
            </a:r>
            <a:r>
              <a:rPr sz="1200" dirty="0"/>
              <a:t>[] = {add, sub};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200" dirty="0"/>
              <a:t>    for(</a:t>
            </a:r>
            <a:r>
              <a:rPr sz="1200" dirty="0" err="1"/>
              <a:t>int</a:t>
            </a:r>
            <a:r>
              <a:rPr sz="1200" dirty="0"/>
              <a:t> </a:t>
            </a:r>
            <a:r>
              <a:rPr sz="1200" dirty="0" err="1"/>
              <a:t>i</a:t>
            </a:r>
            <a:r>
              <a:rPr sz="1200" dirty="0"/>
              <a:t>=0;i&lt;2;i++)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DE047"/>
                </a:solidFill>
                <a:latin typeface="Consolas"/>
              </a:defRPr>
            </a:pPr>
            <a:r>
              <a:rPr sz="1200" dirty="0"/>
              <a:t>        </a:t>
            </a:r>
            <a:r>
              <a:rPr sz="1200" dirty="0" err="1"/>
              <a:t>printf</a:t>
            </a:r>
            <a:r>
              <a:rPr sz="1200" dirty="0"/>
              <a:t>("</a:t>
            </a:r>
            <a:r>
              <a:rPr sz="1200" dirty="0" err="1"/>
              <a:t>funcs</a:t>
            </a:r>
            <a:r>
              <a:rPr sz="1200" dirty="0"/>
              <a:t>[%d](10,3) = %d\n",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200" dirty="0"/>
              <a:t>               </a:t>
            </a:r>
            <a:r>
              <a:rPr sz="1200" dirty="0" err="1"/>
              <a:t>i</a:t>
            </a:r>
            <a:r>
              <a:rPr sz="1200" dirty="0"/>
              <a:t>, </a:t>
            </a:r>
            <a:r>
              <a:rPr sz="1200" dirty="0" err="1"/>
              <a:t>funcs</a:t>
            </a:r>
            <a:r>
              <a:rPr sz="1200" dirty="0"/>
              <a:t>[</a:t>
            </a:r>
            <a:r>
              <a:rPr sz="1200" dirty="0" err="1"/>
              <a:t>i</a:t>
            </a:r>
            <a:r>
              <a:rPr sz="1200" dirty="0"/>
              <a:t>](10,3));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B923C"/>
                </a:solidFill>
                <a:latin typeface="Consolas"/>
              </a:defRPr>
            </a:pPr>
            <a:r>
              <a:rPr sz="1200" dirty="0"/>
              <a:t>    return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200" dirty="0"/>
              <a:t>}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20 | 포인터 함수 vs 함수 포인터 비교 - 메모리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주소 (Address)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변수명 (Name)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값 (Value)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타입 (Type)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0x00401130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add()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(함수코드)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0x00401160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sub()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(함수코드)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0x00401100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createValue()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(함수코드)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*result (힙)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 (동적)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0x7FFE0038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result (스택)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0x00B71A40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int*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0x7FFE0040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op (스택)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→ add/sub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algun Gothic"/>
                        </a:defRPr>
                      </a:pPr>
                      <a:r>
                        <a:t>int(*)(int,int)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  <a:latin typeface="Malgun Gothic"/>
              </a:defRPr>
            </a:pPr>
            <a:r>
              <a:t>→ 포인터 관계: 포인터 함수: createValue()→힙 주소 반환 / 함수 포인터: op→add/sub 코드 가리킴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228600" cy="22860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int/기본형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120640"/>
            <a:ext cx="22860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포인터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120640"/>
            <a:ext cx="228600" cy="228600"/>
          </a:xfrm>
          <a:prstGeom prst="rect">
            <a:avLst/>
          </a:prstGeom>
          <a:solidFill>
            <a:srgbClr val="FEF9C3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5120640"/>
            <a:ext cx="228600" cy="228600"/>
          </a:xfrm>
          <a:prstGeom prst="rect">
            <a:avLst/>
          </a:prstGeom>
          <a:solidFill>
            <a:srgbClr val="E9D5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배열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120640"/>
            <a:ext cx="22860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힙(동적)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120640"/>
            <a:ext cx="228600" cy="228600"/>
          </a:xfrm>
          <a:prstGeom prst="rect">
            <a:avLst/>
          </a:prstGeom>
          <a:solidFill>
            <a:srgbClr val="FFEDD5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102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함수/코드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Lecture 20 | 포인터 함수 vs 함수 포인터 비교 - 핵심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int* func() = 포인터를 반환하는 함수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74519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int (*func)() = 함수를 가리키는 포인터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괄호 유무가 핵심 차이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154680"/>
            <a:ext cx="9144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37560"/>
            <a:ext cx="365760" cy="3657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algun Gothic"/>
              </a:defRPr>
            </a:pPr>
            <a:r>
              <a:t>포인터 함수: 동적 할당 결과 반환 / 함수 포인터: 콜백, 전략 패턴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Malgun Gothic"/>
              </a:defRPr>
            </a:pPr>
            <a:r>
              <a:t>★ Lecture 20 핵심 포인트를 반드시 기억하세요!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onsolas"/>
              </a:defRPr>
            </a:pPr>
            <a: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algun Gothic"/>
              </a:defRPr>
            </a:pPr>
            <a:r>
              <a:t>학습 완료!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A5FA"/>
                </a:solidFill>
                <a:latin typeface="Malgun Gothic"/>
              </a:defRPr>
            </a:pPr>
            <a:r>
              <a:t>C++ 포인터로의 여정을 시작하세요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206240"/>
            <a:ext cx="48764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☆ 20개 강의 완료 | 100+ 슬라이드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93776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☆ 포인터 기초부터 함수 포인터까지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0352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☆ 64비트 메모리 시각화 학습 완성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Thank you! | StudyPointer - C Pointer Mastery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8670</Words>
  <Application>Microsoft Office PowerPoint</Application>
  <PresentationFormat>와이드스크린</PresentationFormat>
  <Paragraphs>1559</Paragraphs>
  <Slides>103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103</vt:i4>
      </vt:variant>
    </vt:vector>
  </HeadingPairs>
  <TitlesOfParts>
    <vt:vector size="108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조영준</cp:lastModifiedBy>
  <cp:revision>2</cp:revision>
  <dcterms:created xsi:type="dcterms:W3CDTF">2013-01-27T09:14:16Z</dcterms:created>
  <dcterms:modified xsi:type="dcterms:W3CDTF">2026-03-05T16:20:46Z</dcterms:modified>
  <cp:category/>
</cp:coreProperties>
</file>